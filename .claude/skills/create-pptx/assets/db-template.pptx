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8" r:id="rId2"/>
    <p:sldId id="269" r:id="rId3"/>
    <p:sldId id="270" r:id="rId4"/>
    <p:sldId id="274" r:id="rId5"/>
    <p:sldId id="271" r:id="rId6"/>
    <p:sldId id="275" r:id="rId7"/>
    <p:sldId id="273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8E40"/>
    <a:srgbClr val="EF4444"/>
    <a:srgbClr val="F9FAFB"/>
    <a:srgbClr val="DACB9A"/>
    <a:srgbClr val="F0EAD6"/>
    <a:srgbClr val="2C3A2F"/>
    <a:srgbClr val="27A599"/>
    <a:srgbClr val="29A375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0047670-309C-493A-8391-401F28741D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26C4B2-613C-4B35-ADBE-98585AA368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2017F-BE43-471B-AACD-A08DB2861118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22918C-40C7-479E-960E-4AB6FFB99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6B6F1-11B2-41A7-A206-0F8A29F79A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BF3C6-108D-424E-AB87-D94465C63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3620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ECEE5-6A06-4923-B745-523A6C4FC8DF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7DF76-AF49-4041-9491-1FB68E1B72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7592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5670D-33C3-4C93-BA7E-62A099B7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E9244F-70AE-45A7-B3F0-4A7D359E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70DE9-99A1-420E-811C-BF01B027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65A415-51C7-4EBE-A415-05D24D767F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CBC8A2-8D69-4867-A329-49BDC34FB5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7"/>
          <a:stretch/>
        </p:blipFill>
        <p:spPr>
          <a:xfrm>
            <a:off x="-1" y="1047404"/>
            <a:ext cx="12192001" cy="58090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74D894-D98C-4A14-8408-199DC950F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" t="3586" r="82713" b="84286"/>
          <a:stretch/>
        </p:blipFill>
        <p:spPr>
          <a:xfrm>
            <a:off x="390699" y="335354"/>
            <a:ext cx="1496292" cy="8312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3FC984-F12C-494A-B048-5FDEDD62AFC6}"/>
              </a:ext>
            </a:extLst>
          </p:cNvPr>
          <p:cNvSpPr txBox="1"/>
          <p:nvPr userDrawn="1"/>
        </p:nvSpPr>
        <p:spPr>
          <a:xfrm>
            <a:off x="7793944" y="6577729"/>
            <a:ext cx="4195545" cy="230832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L" panose="02020503020101020101" pitchFamily="18" charset="-127"/>
                <a:ea typeface="DB고딕 L" panose="02020503020101020101" pitchFamily="18" charset="-127"/>
              </a:rPr>
              <a:t>copyright(c</a:t>
            </a:r>
            <a:r>
              <a:rPr lang="en-US" altLang="ko-KR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L" panose="02020503020101020101" pitchFamily="18" charset="-127"/>
                <a:ea typeface="DB고딕 L" panose="02020503020101020101" pitchFamily="18" charset="-127"/>
              </a:rPr>
              <a:t>) 2025,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L" panose="02020503020101020101" pitchFamily="18" charset="-127"/>
                <a:ea typeface="DB고딕 L" panose="02020503020101020101" pitchFamily="18" charset="-127"/>
              </a:rPr>
              <a:t>DB Inc. All rights reserved.     www.dbinc.co.kr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DB고딕 L" panose="02020503020101020101" pitchFamily="18" charset="-127"/>
              <a:ea typeface="DB고딕 L" panose="020205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33334C-6686-4C36-92DB-4A6AF1E656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278" y="1457922"/>
            <a:ext cx="9724419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3600" b="0" kern="1200" spc="-150">
                <a:solidFill>
                  <a:srgbClr val="015F27"/>
                </a:solidFill>
                <a:latin typeface="DB고딕 B" panose="02020503020101020101" pitchFamily="18" charset="-127"/>
                <a:ea typeface="DB고딕 B" panose="02020503020101020101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보고서 제목을 입력하세요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23E16380-5ABE-44FF-A244-0DAAA7B795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271" y="2051995"/>
            <a:ext cx="9724418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b="1" kern="1200" spc="-6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부서명을 입력하세요</a:t>
            </a:r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0B6F22F7-7583-46DD-957D-B53533554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68620" y="5445471"/>
            <a:ext cx="1884273" cy="365125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i="0" u="none" strike="noStrike" kern="1200" cap="none" spc="-6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uFillTx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2025. 2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962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6B15037-57AF-4929-9C9D-F04EBD518744}"/>
              </a:ext>
            </a:extLst>
          </p:cNvPr>
          <p:cNvGrpSpPr/>
          <p:nvPr userDrawn="1"/>
        </p:nvGrpSpPr>
        <p:grpSpPr>
          <a:xfrm>
            <a:off x="610982" y="575513"/>
            <a:ext cx="10910982" cy="385544"/>
            <a:chOff x="665825" y="505446"/>
            <a:chExt cx="10910982" cy="385544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2C9BEDF-999F-4595-B84D-873A88D58772}"/>
                </a:ext>
              </a:extLst>
            </p:cNvPr>
            <p:cNvCxnSpPr>
              <a:cxnSpLocks/>
            </p:cNvCxnSpPr>
            <p:nvPr/>
          </p:nvCxnSpPr>
          <p:spPr>
            <a:xfrm>
              <a:off x="665825" y="890990"/>
              <a:ext cx="1091098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B1DD9B7-39FD-4F16-93FA-C51427642A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572" b="-2381"/>
            <a:stretch/>
          </p:blipFill>
          <p:spPr>
            <a:xfrm>
              <a:off x="11224470" y="505446"/>
              <a:ext cx="276836" cy="350582"/>
            </a:xfrm>
            <a:prstGeom prst="rect">
              <a:avLst/>
            </a:prstGeom>
          </p:spPr>
        </p:pic>
      </p:grp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9FCC4A-9F1C-460D-8730-25578AD7C4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74201" y="532848"/>
            <a:ext cx="3792537" cy="3286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buNone/>
              <a:defRPr lang="ko-KR" altLang="en-US" sz="18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  <a:cs typeface="+mn-cs"/>
              </a:defRPr>
            </a:lvl1pPr>
          </a:lstStyle>
          <a:p>
            <a:pPr lvl="0"/>
            <a:r>
              <a:rPr lang="ko-KR" altLang="en-US"/>
              <a:t>대제목을 입력하세요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F68C828-67E6-471B-9780-ABBBDF1B97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982" y="514777"/>
            <a:ext cx="577817" cy="3516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3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드림 ExtraBold" panose="02020603020101020101" pitchFamily="18" charset="-127"/>
                <a:ea typeface="DB드림 ExtraBold" panose="02020603020101020101" pitchFamily="18" charset="-127"/>
                <a:cs typeface="+mn-cs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AAEEC0D-7C3B-4DCE-94A7-B184AB62E9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439" y="1144800"/>
            <a:ext cx="10690225" cy="5104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ts val="13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300" kern="1200" spc="-80" dirty="0">
                <a:ln>
                  <a:solidFill>
                    <a:srgbClr val="00854A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DB고딕 L" panose="02020503020101020101" pitchFamily="18" charset="-127"/>
                <a:ea typeface="DB고딕 L" panose="0202050302010102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err="1"/>
              <a:t>거버닝메시지를</a:t>
            </a:r>
            <a:r>
              <a:rPr lang="ko-KR" altLang="en-US" dirty="0"/>
              <a:t> 작성하세요</a:t>
            </a:r>
            <a:endParaRPr lang="en-US" altLang="ko-KR" dirty="0"/>
          </a:p>
          <a:p>
            <a:pPr lvl="0"/>
            <a:r>
              <a:rPr lang="ko-KR" altLang="en-US" dirty="0" err="1"/>
              <a:t>거버닝메시지를</a:t>
            </a:r>
            <a:r>
              <a:rPr lang="ko-KR" altLang="en-US" dirty="0"/>
              <a:t> 작성하세요</a:t>
            </a:r>
          </a:p>
        </p:txBody>
      </p:sp>
    </p:spTree>
    <p:extLst>
      <p:ext uri="{BB962C8B-B14F-4D97-AF65-F5344CB8AC3E}">
        <p14:creationId xmlns:p14="http://schemas.microsoft.com/office/powerpoint/2010/main" val="286035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73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F1A29D-F02B-4B92-87B4-62AD2BE86324}"/>
              </a:ext>
            </a:extLst>
          </p:cNvPr>
          <p:cNvSpPr txBox="1"/>
          <p:nvPr userDrawn="1"/>
        </p:nvSpPr>
        <p:spPr>
          <a:xfrm>
            <a:off x="3619151" y="3167390"/>
            <a:ext cx="49536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ln>
                  <a:solidFill>
                    <a:srgbClr val="00854A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End Of Document</a:t>
            </a:r>
            <a:endParaRPr lang="ko-KR" altLang="en-US" sz="2800" dirty="0">
              <a:ln>
                <a:solidFill>
                  <a:srgbClr val="00854A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E70E81-9CAE-457E-9A1B-B77603B4E4D7}"/>
              </a:ext>
            </a:extLst>
          </p:cNvPr>
          <p:cNvSpPr/>
          <p:nvPr userDrawn="1"/>
        </p:nvSpPr>
        <p:spPr>
          <a:xfrm>
            <a:off x="5551714" y="6484776"/>
            <a:ext cx="923731" cy="27058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5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84765FF-F969-4848-BF6A-4DF5C0F0D4A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21268" y="6421220"/>
            <a:ext cx="664612" cy="235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3AF653-1E28-49DD-BAB3-CE0E5D5F15FD}"/>
              </a:ext>
            </a:extLst>
          </p:cNvPr>
          <p:cNvSpPr txBox="1"/>
          <p:nvPr userDrawn="1"/>
        </p:nvSpPr>
        <p:spPr>
          <a:xfrm>
            <a:off x="5475514" y="6604228"/>
            <a:ext cx="1240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A9E3FA2-8ABC-4871-BCFC-4D4DB8642905}" type="slidenum">
              <a:rPr lang="ko-KR" altLang="en-US" sz="90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L" panose="02020503020101020101" pitchFamily="18" charset="-127"/>
                <a:ea typeface="DB고딕 L" panose="02020503020101020101" pitchFamily="18" charset="-127"/>
              </a:rPr>
              <a:pPr algn="ctr"/>
              <a:t>‹#›</a:t>
            </a:fld>
            <a:r>
              <a:rPr lang="ko-KR" altLang="en-US" sz="9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L" panose="02020503020101020101" pitchFamily="18" charset="-127"/>
                <a:ea typeface="DB고딕 L" panose="02020503020101020101" pitchFamily="18" charset="-127"/>
              </a:rPr>
              <a:t> </a:t>
            </a:r>
            <a:r>
              <a:rPr lang="en-US" altLang="ko-KR" sz="9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L" panose="02020503020101020101" pitchFamily="18" charset="-127"/>
                <a:ea typeface="DB고딕 L" panose="02020503020101020101" pitchFamily="18" charset="-127"/>
              </a:rPr>
              <a:t>/ 6</a:t>
            </a:r>
            <a:endParaRPr lang="ko-KR" altLang="en-US" sz="900">
              <a:ln>
                <a:solidFill>
                  <a:schemeClr val="accent1">
                    <a:alpha val="0"/>
                  </a:schemeClr>
                </a:solidFill>
              </a:ln>
              <a:latin typeface="DB고딕 L" panose="02020503020101020101" pitchFamily="18" charset="-127"/>
              <a:ea typeface="DB고딕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0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9AF3C1-0F0D-49F8-A3A8-5A2EDF8AE3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Selenium </a:t>
            </a:r>
            <a:r>
              <a:rPr lang="ko-KR" altLang="en-US"/>
              <a:t>기반 테스트 자동화 </a:t>
            </a:r>
            <a:r>
              <a:rPr lang="en-US" altLang="ko-KR"/>
              <a:t>PoC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89A12E-F986-4A5B-9560-17C621D373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신기술추진실 플랫폼센터 플랫폼사업팀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1A70C7-B704-4521-B2F4-5C58191839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2025.8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226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3C672D-8756-4CB8-8C58-8714BCF74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/>
                </a:solidFill>
              </a:rPr>
              <a:t>PoC </a:t>
            </a:r>
            <a:r>
              <a:rPr lang="ko-KR" altLang="en-US">
                <a:solidFill>
                  <a:schemeClr val="tx1"/>
                </a:solidFill>
              </a:rPr>
              <a:t>목표 및 핵심가설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D2790-7D9C-4994-B982-269BFC230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982" y="514777"/>
            <a:ext cx="693943" cy="351679"/>
          </a:xfrm>
        </p:spPr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01</a:t>
            </a:r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3DC8B-5A65-4AEB-9B64-056E29A5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b="1" spc="-70"/>
              <a:t>본 </a:t>
            </a:r>
            <a:r>
              <a:rPr lang="en-US" altLang="ko-KR" sz="1400" b="1" spc="-70" dirty="0"/>
              <a:t>PoC</a:t>
            </a:r>
            <a:r>
              <a:rPr lang="ko-KR" altLang="en-US" sz="1400" b="1" spc="-70" dirty="0"/>
              <a:t>는 사내 신사업 아이디어 공모전 당선 과제의 기술적 타당성과 실제 협업 활용성을 검증하기 위해 추진</a:t>
            </a:r>
          </a:p>
          <a:p>
            <a:r>
              <a:rPr lang="ko-KR" altLang="en-US" sz="1400" b="1" spc="-70" dirty="0"/>
              <a:t>테스트 코드 작성 </a:t>
            </a:r>
            <a:r>
              <a:rPr lang="ko-KR" altLang="en-US" sz="1400" b="1" spc="-70"/>
              <a:t>시간을 </a:t>
            </a:r>
            <a:r>
              <a:rPr lang="en-US" altLang="ko-KR" sz="1400" b="1" spc="-70" dirty="0"/>
              <a:t>90% </a:t>
            </a:r>
            <a:r>
              <a:rPr lang="ko-KR" altLang="en-US" sz="1400" b="1" spc="-70" dirty="0"/>
              <a:t>이상 단축하여 프로젝트의 납기 준수율을 높이고 잠재적 장애 비용을 최소화하는 기술의 사업성을 검증하고자 함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59F6B503-FE84-4931-9141-5B09B3210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438621"/>
              </p:ext>
            </p:extLst>
          </p:nvPr>
        </p:nvGraphicFramePr>
        <p:xfrm>
          <a:off x="717549" y="2264182"/>
          <a:ext cx="10626725" cy="142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80">
                  <a:extLst>
                    <a:ext uri="{9D8B030D-6E8A-4147-A177-3AD203B41FA5}">
                      <a16:colId xmlns:a16="http://schemas.microsoft.com/office/drawing/2014/main" val="2800080367"/>
                    </a:ext>
                  </a:extLst>
                </a:gridCol>
                <a:gridCol w="9921045">
                  <a:extLst>
                    <a:ext uri="{9D8B030D-6E8A-4147-A177-3AD203B41FA5}">
                      <a16:colId xmlns:a16="http://schemas.microsoft.com/office/drawing/2014/main" val="1095501491"/>
                    </a:ext>
                  </a:extLst>
                </a:gridCol>
              </a:tblGrid>
              <a:tr h="48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목표</a:t>
                      </a:r>
                      <a:r>
                        <a:rPr lang="en-US" altLang="ko-KR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1 </a:t>
                      </a:r>
                      <a:endParaRPr lang="ko-KR" altLang="en-US" sz="1200" b="1" kern="1200" spc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DB고딕 B" panose="02020503020101020101" pitchFamily="18" charset="-127"/>
                        <a:ea typeface="DB고딕 B" panose="02020503020101020101" pitchFamily="18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생성형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AI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를 활용하여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당사의 핵심 비즈니스인 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SI/ITO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프로젝트의 고질적인 테스트 공수 부족 및 품질 저하 문제를 해결</a:t>
                      </a:r>
                      <a:endParaRPr lang="en-US" altLang="ko-KR" sz="1200" b="0" kern="1200" spc="-5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668367"/>
                  </a:ext>
                </a:extLst>
              </a:tr>
              <a:tr h="48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목표</a:t>
                      </a:r>
                      <a:r>
                        <a:rPr lang="en-US" altLang="ko-KR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2</a:t>
                      </a:r>
                      <a:endParaRPr lang="ko-KR" altLang="en-US" sz="1200" b="1" kern="1200" spc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DB고딕 B" panose="02020503020101020101" pitchFamily="18" charset="-127"/>
                        <a:ea typeface="DB고딕 B" panose="02020503020101020101" pitchFamily="18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Selenium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기반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E2E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테스트 코드 초안 작성 시간을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90%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이상 단축하여 프로젝트 납기 준수율을 높이고</a:t>
                      </a:r>
                      <a:r>
                        <a:rPr lang="en-US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ko-KR" sz="12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잠재적 장애 비용을 최소화</a:t>
                      </a:r>
                      <a:endParaRPr lang="en-US" altLang="ko-KR" sz="1200" b="0" kern="1200" spc="-5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703695"/>
                  </a:ext>
                </a:extLst>
              </a:tr>
              <a:tr h="4536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목표</a:t>
                      </a:r>
                      <a:r>
                        <a:rPr lang="en-US" altLang="ko-KR" sz="1200" b="1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B" panose="02020503020101020101" pitchFamily="18" charset="-127"/>
                          <a:ea typeface="DB고딕 B" panose="02020503020101020101" pitchFamily="18" charset="-127"/>
                          <a:cs typeface="+mn-cs"/>
                        </a:rPr>
                        <a:t>3</a:t>
                      </a:r>
                      <a:endParaRPr lang="ko-KR" altLang="en-US" sz="1200" b="1" kern="1200" spc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DB고딕 B" panose="02020503020101020101" pitchFamily="18" charset="-127"/>
                        <a:ea typeface="DB고딕 B" panose="02020503020101020101" pitchFamily="18" charset="-127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ko-KR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궁극적으로</a:t>
                      </a:r>
                      <a:r>
                        <a:rPr lang="en-US" altLang="ko-KR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신규 비즈니스모델 개발 목적 </a:t>
                      </a:r>
                      <a:r>
                        <a:rPr lang="ko-KR" altLang="ko-KR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기술적 기반 마</a:t>
                      </a:r>
                      <a:r>
                        <a:rPr lang="ko-KR" altLang="en-US" sz="12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련을 위한 개념 검증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1810"/>
                  </a:ext>
                </a:extLst>
              </a:tr>
            </a:tbl>
          </a:graphicData>
        </a:graphic>
      </p:graphicFrame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683546C9-7488-45FB-935B-B84F46E9EDB8}"/>
              </a:ext>
            </a:extLst>
          </p:cNvPr>
          <p:cNvSpPr/>
          <p:nvPr/>
        </p:nvSpPr>
        <p:spPr>
          <a:xfrm>
            <a:off x="704850" y="2001716"/>
            <a:ext cx="10659113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PoC 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목표</a:t>
            </a:r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85BE222D-5D2E-43C5-80F2-AFBD001F3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518336"/>
              </p:ext>
            </p:extLst>
          </p:nvPr>
        </p:nvGraphicFramePr>
        <p:xfrm>
          <a:off x="727074" y="4264431"/>
          <a:ext cx="10626725" cy="195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725">
                  <a:extLst>
                    <a:ext uri="{9D8B030D-6E8A-4147-A177-3AD203B41FA5}">
                      <a16:colId xmlns:a16="http://schemas.microsoft.com/office/drawing/2014/main" val="2800080367"/>
                    </a:ext>
                  </a:extLst>
                </a:gridCol>
              </a:tblGrid>
              <a:tr h="19568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Selenium </a:t>
                      </a:r>
                      <a:r>
                        <a:rPr lang="ko-KR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공식 문서 및 사내 표준 가이드로 학습된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‘AI</a:t>
                      </a:r>
                      <a:r>
                        <a:rPr lang="ko-KR" altLang="en-US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코딩어시스턴트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’</a:t>
                      </a:r>
                      <a:r>
                        <a:rPr lang="ko-KR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는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사전에 정의된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20</a:t>
                      </a:r>
                      <a:r>
                        <a:rPr lang="ko-KR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개의 테스트 케이스 중 </a:t>
                      </a:r>
                      <a:r>
                        <a:rPr lang="en-US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90% </a:t>
                      </a:r>
                      <a:r>
                        <a:rPr lang="ko-KR" altLang="ko-KR" sz="1400" b="1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이상에 대해 </a:t>
                      </a:r>
                      <a:endParaRPr lang="en-US" altLang="ko-KR" sz="1400" b="1" kern="1200" spc="-5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수정이 불필요한</a:t>
                      </a:r>
                      <a:r>
                        <a:rPr lang="en-US" altLang="ko-KR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Selenium </a:t>
                      </a:r>
                      <a:r>
                        <a:rPr lang="ko-KR" altLang="en-US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테스트</a:t>
                      </a:r>
                      <a:r>
                        <a:rPr lang="ko-KR" altLang="ko-KR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코드를 </a:t>
                      </a:r>
                      <a:r>
                        <a:rPr lang="ko-KR" altLang="en-US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자연어 기반으로 </a:t>
                      </a:r>
                      <a:r>
                        <a:rPr lang="ko-KR" altLang="ko-KR" sz="1600" b="1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생성하고 성공적으로 실행시킬 수 있다</a:t>
                      </a:r>
                      <a:endParaRPr lang="en-US" altLang="ko-KR" sz="1600" b="1" kern="1200" spc="-6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DB고딕 M" panose="02020503020101020101" pitchFamily="18" charset="-127"/>
                        <a:ea typeface="DB고딕 M" panose="02020503020101020101" pitchFamily="18" charset="-127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ko-KR" altLang="ko-KR" sz="1200" b="1" kern="1200" spc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DB고딕 M" panose="02020503020101020101" pitchFamily="18" charset="-127"/>
                        <a:ea typeface="DB고딕 M" panose="02020503020101020101" pitchFamily="18" charset="-127"/>
                        <a:cs typeface="+mn-cs"/>
                      </a:endParaRPr>
                    </a:p>
                    <a:p>
                      <a:pPr algn="ctr" latinLnBrk="1"/>
                      <a:endParaRPr lang="ko-KR" altLang="en-US" sz="1200" b="0" spc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DB고딕 B" panose="02020503020101020101" pitchFamily="18" charset="-127"/>
                        <a:ea typeface="DB고딕 B" panose="020205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668367"/>
                  </a:ext>
                </a:extLst>
              </a:tr>
            </a:tbl>
          </a:graphicData>
        </a:graphic>
      </p:graphicFrame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416922C1-FF3B-483B-832E-A10F9DD5EA38}"/>
              </a:ext>
            </a:extLst>
          </p:cNvPr>
          <p:cNvSpPr/>
          <p:nvPr/>
        </p:nvSpPr>
        <p:spPr>
          <a:xfrm>
            <a:off x="704850" y="3973391"/>
            <a:ext cx="10659113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핵심검증가설</a:t>
            </a:r>
          </a:p>
        </p:txBody>
      </p:sp>
      <p:sp>
        <p:nvSpPr>
          <p:cNvPr id="15" name="사각형: 둥근 한쪽 모서리 14">
            <a:extLst>
              <a:ext uri="{FF2B5EF4-FFF2-40B4-BE49-F238E27FC236}">
                <a16:creationId xmlns:a16="http://schemas.microsoft.com/office/drawing/2014/main" id="{FF39820C-601B-4366-A258-C7A2E978610E}"/>
              </a:ext>
            </a:extLst>
          </p:cNvPr>
          <p:cNvSpPr/>
          <p:nvPr/>
        </p:nvSpPr>
        <p:spPr>
          <a:xfrm>
            <a:off x="1543049" y="5573591"/>
            <a:ext cx="4162425" cy="361950"/>
          </a:xfrm>
          <a:prstGeom prst="round1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5000">
                <a:schemeClr val="bg1"/>
              </a:gs>
            </a:gsLst>
            <a:lin ang="2700000" scaled="1"/>
          </a:gra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Selenium </a:t>
            </a:r>
            <a:r>
              <a:rPr lang="ko-KR" altLang="en-US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코드 생성 최적화 맞춤형 </a:t>
            </a: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AI </a:t>
            </a:r>
            <a:r>
              <a:rPr lang="ko-KR" altLang="en-US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구축</a:t>
            </a:r>
          </a:p>
        </p:txBody>
      </p:sp>
      <p:sp>
        <p:nvSpPr>
          <p:cNvPr id="16" name="사각형: 둥근 한쪽 모서리 15">
            <a:extLst>
              <a:ext uri="{FF2B5EF4-FFF2-40B4-BE49-F238E27FC236}">
                <a16:creationId xmlns:a16="http://schemas.microsoft.com/office/drawing/2014/main" id="{E197E6D7-C025-40D1-AC9E-CCDCFF36538C}"/>
              </a:ext>
            </a:extLst>
          </p:cNvPr>
          <p:cNvSpPr/>
          <p:nvPr/>
        </p:nvSpPr>
        <p:spPr>
          <a:xfrm>
            <a:off x="6315074" y="5573591"/>
            <a:ext cx="4162425" cy="361950"/>
          </a:xfrm>
          <a:prstGeom prst="round1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5000">
                <a:schemeClr val="bg1"/>
              </a:gs>
            </a:gsLst>
            <a:lin ang="2700000" scaled="1"/>
          </a:gra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테스트케이스 기반 무수정 코드 생성 성공률 측정</a:t>
            </a: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3BBE7CFC-0F0D-43FA-B905-15EBF43CCCFC}"/>
              </a:ext>
            </a:extLst>
          </p:cNvPr>
          <p:cNvSpPr/>
          <p:nvPr/>
        </p:nvSpPr>
        <p:spPr>
          <a:xfrm>
            <a:off x="5724525" y="5649791"/>
            <a:ext cx="571500" cy="257174"/>
          </a:xfrm>
          <a:prstGeom prst="homePlate">
            <a:avLst>
              <a:gd name="adj" fmla="val 94445"/>
            </a:avLst>
          </a:prstGeom>
          <a:gradFill flip="none" rotWithShape="1">
            <a:gsLst>
              <a:gs pos="100000">
                <a:schemeClr val="accent1">
                  <a:lumMod val="89000"/>
                </a:schemeClr>
              </a:gs>
              <a:gs pos="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27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3D29DE3-28A2-41FB-A186-A56FC2402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367577"/>
              </p:ext>
            </p:extLst>
          </p:nvPr>
        </p:nvGraphicFramePr>
        <p:xfrm>
          <a:off x="704849" y="2177734"/>
          <a:ext cx="6286501" cy="13478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464">
                  <a:extLst>
                    <a:ext uri="{9D8B030D-6E8A-4147-A177-3AD203B41FA5}">
                      <a16:colId xmlns:a16="http://schemas.microsoft.com/office/drawing/2014/main" val="956159607"/>
                    </a:ext>
                  </a:extLst>
                </a:gridCol>
                <a:gridCol w="2932524">
                  <a:extLst>
                    <a:ext uri="{9D8B030D-6E8A-4147-A177-3AD203B41FA5}">
                      <a16:colId xmlns:a16="http://schemas.microsoft.com/office/drawing/2014/main" val="2182546164"/>
                    </a:ext>
                  </a:extLst>
                </a:gridCol>
                <a:gridCol w="2292513">
                  <a:extLst>
                    <a:ext uri="{9D8B030D-6E8A-4147-A177-3AD203B41FA5}">
                      <a16:colId xmlns:a16="http://schemas.microsoft.com/office/drawing/2014/main" val="3386772118"/>
                    </a:ext>
                  </a:extLst>
                </a:gridCol>
              </a:tblGrid>
              <a:tr h="296823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56658"/>
                  </a:ext>
                </a:extLst>
              </a:tr>
              <a:tr h="314973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검증 대상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기운영 서비스 </a:t>
                      </a: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예시</a:t>
                      </a: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수리엔</a:t>
                      </a: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)</a:t>
                      </a:r>
                      <a:endParaRPr lang="ko-KR" altLang="en-US" sz="1100" b="0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다양한</a:t>
                      </a: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UI/UX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패턴 포함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14448"/>
                  </a:ext>
                </a:extLst>
              </a:tr>
              <a:tr h="314973">
                <a:tc rowSpan="2"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기술 환경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1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Selenium</a:t>
                      </a:r>
                      <a:endParaRPr lang="ko-KR" altLang="en-US" sz="1100" b="0" kern="1200" spc="-6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수상작 제안 오픈소스 기반 테스트도구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99802"/>
                  </a:ext>
                </a:extLst>
              </a:tr>
              <a:tr h="314973">
                <a:tc vMerge="1"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3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 </a:t>
                      </a:r>
                      <a:endParaRPr lang="ko-KR" altLang="en-US" sz="1300" b="1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1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AI</a:t>
                      </a:r>
                      <a:r>
                        <a:rPr lang="ko-KR" altLang="en-US" sz="11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코드어시스턴트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altLang="ko-KR" sz="11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OpenAI GPT Builder </a:t>
                      </a:r>
                      <a:r>
                        <a:rPr lang="ko-KR" altLang="en-US" sz="11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활용</a:t>
                      </a:r>
                      <a:endParaRPr lang="ko-KR" altLang="en-US" sz="1100" b="0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90711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3C672D-8756-4CB8-8C58-8714BCF74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/>
                </a:solidFill>
              </a:rPr>
              <a:t>PoC </a:t>
            </a:r>
            <a:r>
              <a:rPr lang="ko-KR" altLang="en-US">
                <a:solidFill>
                  <a:schemeClr val="tx1"/>
                </a:solidFill>
              </a:rPr>
              <a:t>추진계획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D2790-7D9C-4994-B982-269BFC230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982" y="514777"/>
            <a:ext cx="693943" cy="351679"/>
          </a:xfrm>
        </p:spPr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02</a:t>
            </a:r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3DC8B-5A65-4AEB-9B64-056E29A5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b="1" spc="-70"/>
              <a:t>기운영 서비스를 대상으로 </a:t>
            </a:r>
            <a:r>
              <a:rPr lang="en-US" altLang="ko-KR" sz="1400" b="1" spc="-70" dirty="0"/>
              <a:t>AI </a:t>
            </a:r>
            <a:r>
              <a:rPr lang="ko-KR" altLang="en-US" sz="1400" b="1" spc="-70"/>
              <a:t>환경 구축</a:t>
            </a:r>
            <a:r>
              <a:rPr lang="en-US" altLang="ko-KR" sz="1400" b="1" spc="-70" dirty="0"/>
              <a:t>, </a:t>
            </a:r>
            <a:r>
              <a:rPr lang="ko-KR" altLang="en-US" sz="1400" b="1" spc="-70" dirty="0"/>
              <a:t>테스트 케이스 자동 생성 </a:t>
            </a:r>
            <a:r>
              <a:rPr lang="ko-KR" altLang="en-US" sz="1400" b="1" spc="-70"/>
              <a:t>및 검증</a:t>
            </a:r>
            <a:r>
              <a:rPr lang="en-US" altLang="ko-KR" sz="1400" b="1" spc="-70" dirty="0"/>
              <a:t>, </a:t>
            </a:r>
            <a:r>
              <a:rPr lang="ko-KR" altLang="en-US" sz="1400" b="1" spc="-70" dirty="0"/>
              <a:t>최종 성공률 및 생산성 향상 효과 분석을 수행하여 최종 결과를 </a:t>
            </a:r>
            <a:r>
              <a:rPr lang="ko-KR" altLang="en-US" sz="1400" b="1" spc="-70"/>
              <a:t>보고할 예정</a:t>
            </a:r>
            <a:endParaRPr lang="en-US" altLang="ko-KR" sz="1400" b="1" spc="-70"/>
          </a:p>
          <a:p>
            <a:r>
              <a:rPr lang="ko-KR" altLang="ko-KR" sz="1400" b="1" spc="-70"/>
              <a:t>4주간의 단계별 검증을 통해 코드 생성의 '무수정 성공률'과 생산성 향상 효과를 정량적으로 측정하여, 해당 기술 도입의 사업적 가치를 검증하고자 함</a:t>
            </a:r>
          </a:p>
          <a:p>
            <a:endParaRPr lang="ko-KR" altLang="en-US" sz="1400" b="1" spc="-70" dirty="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28A1421-CC81-45C1-A751-95EF85A4072A}"/>
              </a:ext>
            </a:extLst>
          </p:cNvPr>
          <p:cNvSpPr/>
          <p:nvPr/>
        </p:nvSpPr>
        <p:spPr>
          <a:xfrm>
            <a:off x="704851" y="1905000"/>
            <a:ext cx="6286500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PoC 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범위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5B1471C-078B-4017-BBEC-92B3415AF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434209"/>
              </p:ext>
            </p:extLst>
          </p:nvPr>
        </p:nvGraphicFramePr>
        <p:xfrm>
          <a:off x="7134224" y="2177735"/>
          <a:ext cx="4391026" cy="13501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1">
                  <a:extLst>
                    <a:ext uri="{9D8B030D-6E8A-4147-A177-3AD203B41FA5}">
                      <a16:colId xmlns:a16="http://schemas.microsoft.com/office/drawing/2014/main" val="956159607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218254616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386772118"/>
                    </a:ext>
                  </a:extLst>
                </a:gridCol>
              </a:tblGrid>
              <a:tr h="323858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56658"/>
                  </a:ext>
                </a:extLst>
              </a:tr>
              <a:tr h="50766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수행기간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약 </a:t>
                      </a: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개월  </a:t>
                      </a:r>
                      <a:r>
                        <a:rPr lang="en-US" altLang="ko-KR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※ </a:t>
                      </a:r>
                      <a:r>
                        <a:rPr lang="en-US" altLang="ko-KR" sz="1000" b="0" kern="1200" spc="-7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2025.10.20~11.21</a:t>
                      </a:r>
                      <a:endParaRPr lang="ko-KR" altLang="en-US" sz="1000" b="0" kern="1200" spc="-7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M" panose="02020503020101020101" pitchFamily="18" charset="-127"/>
                        <a:ea typeface="DB고딕 M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altLang="ko-KR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OpenAI </a:t>
                      </a:r>
                      <a:r>
                        <a:rPr lang="ko-KR" altLang="en-US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유료라이선스</a:t>
                      </a:r>
                      <a:endParaRPr lang="en-US" altLang="ko-KR" sz="1000" b="0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14448"/>
                  </a:ext>
                </a:extLst>
              </a:tr>
              <a:tr h="50766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투입인력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명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개발자 </a:t>
                      </a:r>
                      <a:r>
                        <a:rPr lang="en-US" altLang="ko-KR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2 + </a:t>
                      </a:r>
                      <a:r>
                        <a:rPr lang="ko-KR" altLang="en-US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수행 </a:t>
                      </a:r>
                      <a:r>
                        <a:rPr lang="en-US" altLang="ko-KR" sz="10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1</a:t>
                      </a:r>
                      <a:endParaRPr lang="ko-KR" altLang="en-US" sz="1000" b="0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59182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CCA9053-483F-4228-879F-A6BB74365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84182"/>
              </p:ext>
            </p:extLst>
          </p:nvPr>
        </p:nvGraphicFramePr>
        <p:xfrm>
          <a:off x="695326" y="4013008"/>
          <a:ext cx="10820400" cy="22859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0574">
                  <a:extLst>
                    <a:ext uri="{9D8B030D-6E8A-4147-A177-3AD203B41FA5}">
                      <a16:colId xmlns:a16="http://schemas.microsoft.com/office/drawing/2014/main" val="7366652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7330789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3392517112"/>
                    </a:ext>
                  </a:extLst>
                </a:gridCol>
                <a:gridCol w="2571751">
                  <a:extLst>
                    <a:ext uri="{9D8B030D-6E8A-4147-A177-3AD203B41FA5}">
                      <a16:colId xmlns:a16="http://schemas.microsoft.com/office/drawing/2014/main" val="1663402566"/>
                    </a:ext>
                  </a:extLst>
                </a:gridCol>
              </a:tblGrid>
              <a:tr h="30445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주차</a:t>
                      </a:r>
                    </a:p>
                  </a:txBody>
                  <a:tcPr marL="65772" marR="65772" marT="43848" marB="43848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핵심 활동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세부 내용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산출물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71009"/>
                  </a:ext>
                </a:extLst>
              </a:tr>
              <a:tr h="49537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주차</a:t>
                      </a:r>
                    </a:p>
                  </a:txBody>
                  <a:tcPr marL="65772" marR="65772" marT="43848" marB="43848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AI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기반 구축 및 환경 설정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지식베이스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구축을 위한 자료 수집 및 정제</a:t>
                      </a:r>
                      <a:endParaRPr lang="en-US" altLang="ko-KR" sz="1050" b="0" kern="1200" spc="-4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GPT Builder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활용</a:t>
                      </a:r>
                      <a:r>
                        <a:rPr lang="en-US" altLang="ko-KR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맞춤형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AI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및 프롬프트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개발 </a:t>
                      </a:r>
                      <a:r>
                        <a:rPr lang="en-US" altLang="ko-KR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테스트 환경 구축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GPT Builder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기반 </a:t>
                      </a: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AI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코드어시스턴트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241999"/>
                  </a:ext>
                </a:extLst>
              </a:tr>
              <a:tr h="49537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주차</a:t>
                      </a:r>
                    </a:p>
                  </a:txBody>
                  <a:tcPr marL="65772" marR="65772" marT="43848" marB="43848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테스트 케이스 설계 및</a:t>
                      </a: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1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차 검증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난이도별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초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중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고급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테스트 케이스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20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종 상세 설계</a:t>
                      </a:r>
                      <a:endParaRPr lang="en-US" altLang="ko-KR" sz="1050" b="0" kern="1200" spc="-4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코드 생성 및 테스트 실행  → 실패 케이스 원인 분석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테스트 케이스 정의서</a:t>
                      </a: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및 검증 결과 기록표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45152"/>
                  </a:ext>
                </a:extLst>
              </a:tr>
              <a:tr h="49537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주차</a:t>
                      </a:r>
                    </a:p>
                  </a:txBody>
                  <a:tcPr marL="65772" marR="65772" marT="43848" marB="43848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AI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고도화 및</a:t>
                      </a: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2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차 검증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차 검증 결과 기반 프롬프트 개선 및 </a:t>
                      </a:r>
                      <a:r>
                        <a:rPr lang="en-US" altLang="ko-KR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Knowledge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보강</a:t>
                      </a:r>
                      <a:endParaRPr lang="en-US" altLang="ko-KR" sz="1050" b="0" kern="1200" spc="-4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실패 케이스 대상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2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차 코드 생성 및 재검증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altLang="ko-KR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-</a:t>
                      </a:r>
                      <a:endParaRPr lang="ko-KR" altLang="en-US" sz="1100" b="0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425242"/>
                  </a:ext>
                </a:extLst>
              </a:tr>
              <a:tr h="49537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주차</a:t>
                      </a:r>
                    </a:p>
                  </a:txBody>
                  <a:tcPr marL="65772" marR="65772" marT="43848" marB="43848" anchor="ctr"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최종 검증 및 결과 분석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전체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20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개 케이스 대상 최종 코드 생성 및 실행</a:t>
                      </a:r>
                      <a:endParaRPr lang="en-US" altLang="ko-KR" sz="1050" b="0" kern="1200" spc="-4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'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무수정 성공률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'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최종 측정</a:t>
                      </a:r>
                      <a:r>
                        <a:rPr lang="en-US" altLang="ko-KR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+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정성적 평가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(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코드 품질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생산성 향상 등</a:t>
                      </a:r>
                      <a:r>
                        <a:rPr lang="en-US" sz="1050" b="0" kern="1200" spc="-4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PoC </a:t>
                      </a:r>
                      <a:r>
                        <a:rPr lang="ko-KR" altLang="en-US" sz="1100" b="0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최종 결과 보고서</a:t>
                      </a:r>
                    </a:p>
                  </a:txBody>
                  <a:tcPr marL="65772" marR="65772" marT="43848" marB="438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516307"/>
                  </a:ext>
                </a:extLst>
              </a:tr>
            </a:tbl>
          </a:graphicData>
        </a:graphic>
      </p:graphicFrame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E909A789-725E-4C05-A835-8F0F8D5A1DF0}"/>
              </a:ext>
            </a:extLst>
          </p:cNvPr>
          <p:cNvSpPr/>
          <p:nvPr/>
        </p:nvSpPr>
        <p:spPr>
          <a:xfrm>
            <a:off x="695326" y="3727207"/>
            <a:ext cx="10820400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주차별 상세 일정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A0EBC8AD-0D49-4FCE-96DF-CC441206BD52}"/>
              </a:ext>
            </a:extLst>
          </p:cNvPr>
          <p:cNvSpPr/>
          <p:nvPr/>
        </p:nvSpPr>
        <p:spPr>
          <a:xfrm>
            <a:off x="7134226" y="1895475"/>
            <a:ext cx="4400549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추진일정 및 수행인력</a:t>
            </a:r>
          </a:p>
        </p:txBody>
      </p:sp>
    </p:spTree>
    <p:extLst>
      <p:ext uri="{BB962C8B-B14F-4D97-AF65-F5344CB8AC3E}">
        <p14:creationId xmlns:p14="http://schemas.microsoft.com/office/powerpoint/2010/main" val="34281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4EDBF7-2DD5-457B-BAA6-4C5A294D4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세부수행방안 </a:t>
            </a:r>
            <a:r>
              <a:rPr lang="en-US" altLang="ko-KR">
                <a:solidFill>
                  <a:schemeClr val="tx1"/>
                </a:solidFill>
              </a:rPr>
              <a:t>(1/2)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B64482-746B-41A1-B2AB-1CECCA434C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03</a:t>
            </a:r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5D6824-40D6-4234-A0E6-1CD2D1CED9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b="1" spc="-70"/>
              <a:t>본 수행 방안은 </a:t>
            </a:r>
            <a:r>
              <a:rPr lang="en-US" altLang="ko-KR" sz="1400" b="1" spc="-70"/>
              <a:t>UI</a:t>
            </a:r>
            <a:r>
              <a:rPr lang="ko-KR" altLang="en-US" sz="1400" b="1" spc="-70"/>
              <a:t>테스트를 위한 </a:t>
            </a:r>
            <a:r>
              <a:rPr lang="en-US" altLang="ko-KR" sz="1400" b="1" spc="-70"/>
              <a:t>‘</a:t>
            </a:r>
            <a:r>
              <a:rPr lang="ko-KR" altLang="en-US" sz="1400" b="1" spc="-70"/>
              <a:t>무수정 테스트 코드</a:t>
            </a:r>
            <a:r>
              <a:rPr lang="en-US" altLang="ko-KR" sz="1400" b="1" spc="-70"/>
              <a:t>’</a:t>
            </a:r>
            <a:r>
              <a:rPr lang="ko-KR" altLang="en-US" sz="1400" b="1" spc="-70"/>
              <a:t>생성이 가능한 </a:t>
            </a:r>
            <a:r>
              <a:rPr lang="en-US" altLang="ko-KR" sz="1400" b="1" spc="-70"/>
              <a:t>Selenium AI </a:t>
            </a:r>
            <a:r>
              <a:rPr lang="ko-KR" altLang="en-US" sz="1400" b="1" spc="-70"/>
              <a:t>코드어시스턴트 확보를 최종 목표로 함</a:t>
            </a:r>
          </a:p>
          <a:p>
            <a:r>
              <a:rPr lang="ko-KR" altLang="en-US" sz="1400" b="1" spc="-70"/>
              <a:t>이를 위해 데이터 기반의 모델 생성부터 실제 코드 실행과 결과 검증까지</a:t>
            </a:r>
            <a:r>
              <a:rPr lang="en-US" altLang="ko-KR" sz="1400" b="1" spc="-70"/>
              <a:t>, </a:t>
            </a:r>
            <a:r>
              <a:rPr lang="ko-KR" altLang="en-US" sz="1400" b="1" spc="-70"/>
              <a:t>전 과정을 체계적으로 실행 및 관리하고자 함</a:t>
            </a:r>
          </a:p>
          <a:p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7AE8178-4123-4754-ACF2-86DA7CBE25D0}"/>
              </a:ext>
            </a:extLst>
          </p:cNvPr>
          <p:cNvGrpSpPr/>
          <p:nvPr/>
        </p:nvGrpSpPr>
        <p:grpSpPr>
          <a:xfrm>
            <a:off x="666749" y="2266950"/>
            <a:ext cx="10725152" cy="4162426"/>
            <a:chOff x="666749" y="2171700"/>
            <a:chExt cx="10725152" cy="4162426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68CDADF-0841-4FBF-B721-20A29B3068C6}"/>
                </a:ext>
              </a:extLst>
            </p:cNvPr>
            <p:cNvSpPr/>
            <p:nvPr/>
          </p:nvSpPr>
          <p:spPr>
            <a:xfrm>
              <a:off x="666749" y="2171700"/>
              <a:ext cx="2771775" cy="4162426"/>
            </a:xfrm>
            <a:prstGeom prst="roundRect">
              <a:avLst>
                <a:gd name="adj" fmla="val 9794"/>
              </a:avLst>
            </a:prstGeom>
            <a:solidFill>
              <a:srgbClr val="F9FAFB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BA284E-F47A-48C6-A59A-0AD4B728FC6D}"/>
                </a:ext>
              </a:extLst>
            </p:cNvPr>
            <p:cNvSpPr txBox="1"/>
            <p:nvPr/>
          </p:nvSpPr>
          <p:spPr>
            <a:xfrm>
              <a:off x="1088377" y="2359866"/>
              <a:ext cx="1921523" cy="5001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ko-KR" sz="1600" u="none" strike="noStrike" cap="none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DB고딕 B" panose="02020503020101020101" pitchFamily="18" charset="-127"/>
                  <a:ea typeface="DB고딕 B" panose="02020503020101020101" pitchFamily="18" charset="-127"/>
                </a:rPr>
                <a:t>GPT Builder </a:t>
              </a:r>
              <a:r>
                <a:rPr kumimoji="0" lang="ko-KR" altLang="en-US" sz="1600" u="none" strike="noStrike" cap="none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DB고딕 B" panose="02020503020101020101" pitchFamily="18" charset="-127"/>
                  <a:ea typeface="DB고딕 B" panose="02020503020101020101" pitchFamily="18" charset="-127"/>
                </a:rPr>
                <a:t>구성</a:t>
              </a:r>
              <a:endParaRPr kumimoji="0" lang="en-US" altLang="ko-KR" sz="1600" u="none" strike="noStrike" cap="none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05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초기</a:t>
              </a:r>
              <a:r>
                <a:rPr lang="en-US" altLang="ko-KR" sz="105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 </a:t>
              </a:r>
              <a:r>
                <a:rPr lang="ko-KR" altLang="en-US" sz="105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모델</a:t>
              </a:r>
              <a:r>
                <a:rPr lang="en-US" altLang="ko-KR" sz="105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 </a:t>
              </a:r>
              <a:r>
                <a:rPr lang="ko-KR" altLang="en-US" sz="105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설계 및 지식기반 구축</a:t>
              </a:r>
              <a:endParaRPr kumimoji="0" lang="ko-KR" altLang="ko-KR" sz="105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4471C7B-E7A9-4245-968B-7BEE101674CB}"/>
                </a:ext>
              </a:extLst>
            </p:cNvPr>
            <p:cNvSpPr/>
            <p:nvPr/>
          </p:nvSpPr>
          <p:spPr>
            <a:xfrm>
              <a:off x="866774" y="2943225"/>
              <a:ext cx="2428167" cy="962025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FD7E468-6273-4B8C-942D-F1135A3EC1C7}"/>
                </a:ext>
              </a:extLst>
            </p:cNvPr>
            <p:cNvSpPr/>
            <p:nvPr/>
          </p:nvSpPr>
          <p:spPr>
            <a:xfrm>
              <a:off x="857249" y="3981449"/>
              <a:ext cx="2428167" cy="2171701"/>
            </a:xfrm>
            <a:prstGeom prst="roundRect">
              <a:avLst>
                <a:gd name="adj" fmla="val 7457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045F28-D5D1-4462-936A-0A8B9A4BA8DC}"/>
                </a:ext>
              </a:extLst>
            </p:cNvPr>
            <p:cNvSpPr txBox="1"/>
            <p:nvPr/>
          </p:nvSpPr>
          <p:spPr>
            <a:xfrm>
              <a:off x="916927" y="3026616"/>
              <a:ext cx="2310592" cy="784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ko-KR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System Prompt </a:t>
              </a:r>
              <a:r>
                <a: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설계</a:t>
              </a:r>
              <a:endPara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ko-KR" sz="3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ko-KR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AI</a:t>
              </a:r>
              <a:r>
                <a:rPr kumimoji="0" lang="ko-KR" altLang="en-US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의 페르소나</a:t>
              </a:r>
              <a:r>
                <a:rPr kumimoji="0" lang="en-US" altLang="ko-KR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, </a:t>
              </a:r>
              <a:r>
                <a:rPr kumimoji="0" lang="ko-KR" altLang="en-US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역할</a:t>
              </a:r>
              <a:r>
                <a:rPr kumimoji="0" lang="en-US" altLang="ko-KR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, </a:t>
              </a:r>
              <a:r>
                <a:rPr kumimoji="0" lang="ko-KR" altLang="en-US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제약 조건</a:t>
              </a:r>
              <a:r>
                <a:rPr kumimoji="0" lang="en-US" altLang="ko-KR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,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ko-KR" altLang="en-US" sz="10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B고딕 M" panose="02020503020101020101" pitchFamily="18" charset="-127"/>
                  <a:ea typeface="DB고딕 M" panose="02020503020101020101" pitchFamily="18" charset="-127"/>
                </a:rPr>
                <a:t>출력 형식 등 작동의 근간이 되는 핵심규칙을 명확하게 정의</a:t>
              </a:r>
              <a:endParaRPr kumimoji="0" lang="ko-KR" altLang="ko-KR" sz="10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4F334F-4CC0-4C30-B2C5-6497E2681AA8}"/>
                </a:ext>
              </a:extLst>
            </p:cNvPr>
            <p:cNvSpPr txBox="1"/>
            <p:nvPr/>
          </p:nvSpPr>
          <p:spPr>
            <a:xfrm>
              <a:off x="916927" y="4141041"/>
              <a:ext cx="2310592" cy="477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Knowledge </a:t>
              </a:r>
              <a:r>
                <a: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구축</a:t>
              </a:r>
              <a:endPara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ko-KR" sz="3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ko-KR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AI</a:t>
              </a:r>
              <a:r>
                <a:rPr lang="ko-KR" altLang="en-US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가 참조할 전문 지식 기반을 구성</a:t>
              </a:r>
              <a:endParaRPr kumimoji="0" lang="ko-KR" altLang="ko-KR" sz="10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1A650CA-A647-49C1-B1FB-ABE9FECC23A0}"/>
                </a:ext>
              </a:extLst>
            </p:cNvPr>
            <p:cNvSpPr/>
            <p:nvPr/>
          </p:nvSpPr>
          <p:spPr>
            <a:xfrm>
              <a:off x="1057274" y="4676775"/>
              <a:ext cx="1947116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코드템플릿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C3A1CF2-7DD0-49C9-96F2-69AD795AD650}"/>
                </a:ext>
              </a:extLst>
            </p:cNvPr>
            <p:cNvSpPr/>
            <p:nvPr/>
          </p:nvSpPr>
          <p:spPr>
            <a:xfrm>
              <a:off x="1057274" y="5016500"/>
              <a:ext cx="1947116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Best Practice</a:t>
              </a:r>
              <a:endParaRPr lang="ko-KR" altLang="en-US" sz="1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3AA065FE-A5B2-4CF8-B292-8B50DF655255}"/>
                </a:ext>
              </a:extLst>
            </p:cNvPr>
            <p:cNvSpPr/>
            <p:nvPr/>
          </p:nvSpPr>
          <p:spPr>
            <a:xfrm>
              <a:off x="1057274" y="5356225"/>
              <a:ext cx="1947116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초기 샘플 세트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0DB1BD4-61CB-4ACD-B629-59ADCCC4EDA4}"/>
                </a:ext>
              </a:extLst>
            </p:cNvPr>
            <p:cNvSpPr/>
            <p:nvPr/>
          </p:nvSpPr>
          <p:spPr>
            <a:xfrm>
              <a:off x="1057274" y="5695950"/>
              <a:ext cx="1947116" cy="266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sx="99000" sy="99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…</a:t>
              </a:r>
              <a:endParaRPr lang="ko-KR" altLang="en-US" sz="1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38F35C3-43E2-4C8A-9669-8C6A1737801F}"/>
                </a:ext>
              </a:extLst>
            </p:cNvPr>
            <p:cNvGrpSpPr/>
            <p:nvPr/>
          </p:nvGrpSpPr>
          <p:grpSpPr>
            <a:xfrm>
              <a:off x="9039225" y="2638425"/>
              <a:ext cx="2352676" cy="2790825"/>
              <a:chOff x="8591549" y="2695575"/>
              <a:chExt cx="2819401" cy="2790825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0FBFCB75-4129-4887-9C62-E777ABD193A3}"/>
                  </a:ext>
                </a:extLst>
              </p:cNvPr>
              <p:cNvSpPr/>
              <p:nvPr/>
            </p:nvSpPr>
            <p:spPr>
              <a:xfrm>
                <a:off x="8591549" y="2695575"/>
                <a:ext cx="2771775" cy="27908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14BA30A-8419-4F2F-AF3B-6D9F9426FA04}"/>
                  </a:ext>
                </a:extLst>
              </p:cNvPr>
              <p:cNvSpPr txBox="1"/>
              <p:nvPr/>
            </p:nvSpPr>
            <p:spPr>
              <a:xfrm>
                <a:off x="9060802" y="3617166"/>
                <a:ext cx="192152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ko-KR" altLang="en-US" sz="1600" u="none" strike="noStrike" cap="none" spc="-100" normalizeH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DB고딕 B" panose="02020503020101020101" pitchFamily="18" charset="-127"/>
                    <a:ea typeface="DB고딕 B" panose="02020503020101020101" pitchFamily="18" charset="-127"/>
                  </a:rPr>
                  <a:t>최종 규칙화</a:t>
                </a:r>
                <a:endParaRPr kumimoji="0" lang="en-US" altLang="ko-KR" sz="1600" u="none" strike="noStrike" cap="none" spc="-100" normalizeH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DB고딕 B" panose="02020503020101020101" pitchFamily="18" charset="-127"/>
                  <a:ea typeface="DB고딕 B" panose="02020503020101020101" pitchFamily="18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FA3A7E-E4E2-4A34-B648-CF46A2FD2E43}"/>
                  </a:ext>
                </a:extLst>
              </p:cNvPr>
              <p:cNvSpPr txBox="1"/>
              <p:nvPr/>
            </p:nvSpPr>
            <p:spPr>
              <a:xfrm>
                <a:off x="8603602" y="3979116"/>
                <a:ext cx="280734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rPr>
                  <a:t>목표 성능에 도달하면 </a:t>
                </a:r>
                <a:endParaRPr lang="en-US" altLang="ko-KR" sz="12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endParaRPr>
              </a:p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rPr>
                  <a:t>최적화 규칙을 </a:t>
                </a:r>
                <a:endParaRPr lang="en-US" altLang="ko-KR" sz="12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endParaRPr>
              </a:p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rPr>
                  <a:t>시스템프롬프트에 통합하고 </a:t>
                </a:r>
                <a:endParaRPr lang="en-US" altLang="ko-KR" sz="12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endParaRPr>
              </a:p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rPr>
                  <a:t>기반 지식을 최종 업데이트하여 </a:t>
                </a:r>
                <a:endParaRPr lang="en-US" altLang="ko-KR" sz="12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endParaRPr>
              </a:p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rPr>
                  <a:t>배포가능한 모델을 완성</a:t>
                </a:r>
                <a:endParaRPr lang="ko-KR" altLang="ko-KR" sz="12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endParaRPr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58F01658-F997-4B99-9CC2-566E4581BED7}"/>
                </a:ext>
              </a:extLst>
            </p:cNvPr>
            <p:cNvCxnSpPr/>
            <p:nvPr/>
          </p:nvCxnSpPr>
          <p:spPr>
            <a:xfrm>
              <a:off x="3590925" y="4086225"/>
              <a:ext cx="33337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05D00BB2-BAC7-488B-B67A-DC81A84DF1C3}"/>
                </a:ext>
              </a:extLst>
            </p:cNvPr>
            <p:cNvCxnSpPr/>
            <p:nvPr/>
          </p:nvCxnSpPr>
          <p:spPr>
            <a:xfrm>
              <a:off x="8620125" y="4105275"/>
              <a:ext cx="33337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5577557D-9A09-4C31-9F13-4AE87FF63949}"/>
                </a:ext>
              </a:extLst>
            </p:cNvPr>
            <p:cNvGrpSpPr/>
            <p:nvPr/>
          </p:nvGrpSpPr>
          <p:grpSpPr>
            <a:xfrm>
              <a:off x="4000500" y="2247900"/>
              <a:ext cx="4533900" cy="3905250"/>
              <a:chOff x="4000500" y="2209800"/>
              <a:chExt cx="4533900" cy="3905250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5A2A233C-6C27-4AA5-8C7D-B1632047E63E}"/>
                  </a:ext>
                </a:extLst>
              </p:cNvPr>
              <p:cNvSpPr/>
              <p:nvPr/>
            </p:nvSpPr>
            <p:spPr>
              <a:xfrm>
                <a:off x="4000500" y="2209800"/>
                <a:ext cx="4533900" cy="3905250"/>
              </a:xfrm>
              <a:prstGeom prst="roundRect">
                <a:avLst>
                  <a:gd name="adj" fmla="val 3927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03781515-C815-498C-A939-67F919FC7BD6}"/>
                  </a:ext>
                </a:extLst>
              </p:cNvPr>
              <p:cNvGrpSpPr/>
              <p:nvPr/>
            </p:nvGrpSpPr>
            <p:grpSpPr>
              <a:xfrm>
                <a:off x="4343400" y="2486025"/>
                <a:ext cx="3667125" cy="3400425"/>
                <a:chOff x="4000499" y="2419350"/>
                <a:chExt cx="4543425" cy="3400425"/>
              </a:xfrm>
            </p:grpSpPr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B2B63968-1D5D-4546-90D5-7D9BE0D5AFE6}"/>
                    </a:ext>
                  </a:extLst>
                </p:cNvPr>
                <p:cNvGrpSpPr/>
                <p:nvPr/>
              </p:nvGrpSpPr>
              <p:grpSpPr>
                <a:xfrm>
                  <a:off x="4000499" y="2419350"/>
                  <a:ext cx="4543425" cy="3400425"/>
                  <a:chOff x="3533774" y="2409825"/>
                  <a:chExt cx="4543425" cy="3400425"/>
                </a:xfrm>
              </p:grpSpPr>
              <p:sp>
                <p:nvSpPr>
                  <p:cNvPr id="23" name="사각형: 둥근 모서리 22">
                    <a:extLst>
                      <a:ext uri="{FF2B5EF4-FFF2-40B4-BE49-F238E27FC236}">
                        <a16:creationId xmlns:a16="http://schemas.microsoft.com/office/drawing/2014/main" id="{21CB4FBB-E21F-4B5F-A36A-6E47623B0D0E}"/>
                      </a:ext>
                    </a:extLst>
                  </p:cNvPr>
                  <p:cNvSpPr/>
                  <p:nvPr/>
                </p:nvSpPr>
                <p:spPr>
                  <a:xfrm>
                    <a:off x="3533774" y="2409825"/>
                    <a:ext cx="4543425" cy="9525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" name="사각형: 둥근 모서리 23">
                    <a:extLst>
                      <a:ext uri="{FF2B5EF4-FFF2-40B4-BE49-F238E27FC236}">
                        <a16:creationId xmlns:a16="http://schemas.microsoft.com/office/drawing/2014/main" id="{0A9F0F23-D3C9-4F49-BDC5-53DC7F021BF9}"/>
                      </a:ext>
                    </a:extLst>
                  </p:cNvPr>
                  <p:cNvSpPr/>
                  <p:nvPr/>
                </p:nvSpPr>
                <p:spPr>
                  <a:xfrm>
                    <a:off x="3533774" y="3619500"/>
                    <a:ext cx="4543425" cy="9525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0E2E0CC1-627A-4ABC-BBDA-F7D4F848EAD7}"/>
                      </a:ext>
                    </a:extLst>
                  </p:cNvPr>
                  <p:cNvSpPr/>
                  <p:nvPr/>
                </p:nvSpPr>
                <p:spPr>
                  <a:xfrm>
                    <a:off x="3533774" y="4857750"/>
                    <a:ext cx="4543425" cy="9525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7128761-85C7-4424-98C5-6FFF7F948D87}"/>
                    </a:ext>
                  </a:extLst>
                </p:cNvPr>
                <p:cNvSpPr txBox="1"/>
                <p:nvPr/>
              </p:nvSpPr>
              <p:spPr>
                <a:xfrm>
                  <a:off x="4326877" y="2759916"/>
                  <a:ext cx="3902724" cy="500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0" lang="ko-KR" altLang="en-US" sz="1600" u="none" strike="noStrike" cap="none" spc="-100" normalizeH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성능평가</a:t>
                  </a:r>
                  <a:endParaRPr lang="en-US" altLang="ko-KR" sz="4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lang="ko-KR" altLang="en-US" sz="1050" spc="-1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DB고딕 M" panose="02020503020101020101" pitchFamily="18" charset="-127"/>
                      <a:ea typeface="DB고딕 M" panose="02020503020101020101" pitchFamily="18" charset="-127"/>
                    </a:rPr>
                    <a:t>모델의 정확도와 안정성을 정량적으로 측정</a:t>
                  </a:r>
                  <a:endParaRPr lang="en-US" altLang="ko-KR" sz="105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D41A4BD-98A8-4FD4-879E-1B25E5B1284C}"/>
                    </a:ext>
                  </a:extLst>
                </p:cNvPr>
                <p:cNvSpPr txBox="1"/>
                <p:nvPr/>
              </p:nvSpPr>
              <p:spPr>
                <a:xfrm>
                  <a:off x="4307827" y="3969591"/>
                  <a:ext cx="3902723" cy="500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0" lang="ko-KR" altLang="en-US" sz="1600" u="none" strike="noStrike" cap="none" spc="-100" normalizeH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오류 분석</a:t>
                  </a:r>
                  <a:endParaRPr lang="en-US" altLang="ko-KR" sz="4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lang="ko-KR" altLang="en-US" sz="1050" spc="-1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DB고딕 M" panose="02020503020101020101" pitchFamily="18" charset="-127"/>
                      <a:ea typeface="DB고딕 M" panose="02020503020101020101" pitchFamily="18" charset="-127"/>
                    </a:rPr>
                    <a:t>실패 케이스를 구체적인 유형으로 분류하여 근본 원인 진단</a:t>
                  </a:r>
                  <a:endParaRPr lang="en-US" altLang="ko-KR" sz="105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88409C8-9FEF-495C-9737-85A5680F2464}"/>
                    </a:ext>
                  </a:extLst>
                </p:cNvPr>
                <p:cNvSpPr txBox="1"/>
                <p:nvPr/>
              </p:nvSpPr>
              <p:spPr>
                <a:xfrm>
                  <a:off x="4298302" y="5217366"/>
                  <a:ext cx="3902723" cy="500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0" lang="ko-KR" altLang="en-US" sz="1600" u="none" strike="noStrike" cap="none" spc="-100" normalizeH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개선 및 튜닝</a:t>
                  </a:r>
                  <a:endParaRPr lang="en-US" altLang="ko-KR" sz="40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lang="ko-KR" altLang="en-US" sz="1050" spc="-1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DB고딕 M" panose="02020503020101020101" pitchFamily="18" charset="-127"/>
                      <a:ea typeface="DB고딕 M" panose="02020503020101020101" pitchFamily="18" charset="-127"/>
                    </a:rPr>
                    <a:t>분석결과를 바탕으로 모델을 정교하게 개선</a:t>
                  </a:r>
                  <a:endParaRPr lang="en-US" altLang="ko-KR" sz="1050" spc="-1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B고딕 M" panose="02020503020101020101" pitchFamily="18" charset="-127"/>
                    <a:ea typeface="DB고딕 M" panose="02020503020101020101" pitchFamily="18" charset="-127"/>
                  </a:endParaRPr>
                </a:p>
              </p:txBody>
            </p:sp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189F275A-AA90-464D-A213-9127CCC2D6B9}"/>
                    </a:ext>
                  </a:extLst>
                </p:cNvPr>
                <p:cNvSpPr/>
                <p:nvPr/>
              </p:nvSpPr>
              <p:spPr>
                <a:xfrm>
                  <a:off x="6086476" y="2571750"/>
                  <a:ext cx="390524" cy="2000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ko-KR" sz="12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1</a:t>
                  </a:r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DB고딕 B" panose="02020503020101020101" pitchFamily="18" charset="-127"/>
                    <a:ea typeface="DB고딕 B" panose="02020503020101020101" pitchFamily="18" charset="-127"/>
                  </a:endParaRPr>
                </a:p>
              </p:txBody>
            </p:sp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90CEB3D8-6573-4E12-BCBA-A6574CA809E1}"/>
                    </a:ext>
                  </a:extLst>
                </p:cNvPr>
                <p:cNvSpPr/>
                <p:nvPr/>
              </p:nvSpPr>
              <p:spPr>
                <a:xfrm>
                  <a:off x="6076951" y="3762375"/>
                  <a:ext cx="390524" cy="2000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ko-KR" sz="12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2</a:t>
                  </a:r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DB고딕 B" panose="02020503020101020101" pitchFamily="18" charset="-127"/>
                    <a:ea typeface="DB고딕 B" panose="02020503020101020101" pitchFamily="18" charset="-127"/>
                  </a:endParaRPr>
                </a:p>
              </p:txBody>
            </p:sp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F0B0557A-F4F5-4912-A866-2B92341EE5D5}"/>
                    </a:ext>
                  </a:extLst>
                </p:cNvPr>
                <p:cNvSpPr/>
                <p:nvPr/>
              </p:nvSpPr>
              <p:spPr>
                <a:xfrm>
                  <a:off x="6076951" y="5000625"/>
                  <a:ext cx="390524" cy="2000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ko-KR" sz="12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DB고딕 B" panose="02020503020101020101" pitchFamily="18" charset="-127"/>
                      <a:ea typeface="DB고딕 B" panose="02020503020101020101" pitchFamily="18" charset="-127"/>
                    </a:rPr>
                    <a:t>3</a:t>
                  </a:r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DB고딕 B" panose="02020503020101020101" pitchFamily="18" charset="-127"/>
                    <a:ea typeface="DB고딕 B" panose="02020503020101020101" pitchFamily="18" charset="-127"/>
                  </a:endParaRPr>
                </a:p>
              </p:txBody>
            </p:sp>
            <p:sp>
              <p:nvSpPr>
                <p:cNvPr id="32" name="화살표: 오각형 31">
                  <a:extLst>
                    <a:ext uri="{FF2B5EF4-FFF2-40B4-BE49-F238E27FC236}">
                      <a16:creationId xmlns:a16="http://schemas.microsoft.com/office/drawing/2014/main" id="{C1CD6754-972D-47ED-B86E-4261E5B9124A}"/>
                    </a:ext>
                  </a:extLst>
                </p:cNvPr>
                <p:cNvSpPr/>
                <p:nvPr/>
              </p:nvSpPr>
              <p:spPr>
                <a:xfrm rot="5400000">
                  <a:off x="6194425" y="3351090"/>
                  <a:ext cx="180975" cy="281109"/>
                </a:xfrm>
                <a:prstGeom prst="homePlate">
                  <a:avLst>
                    <a:gd name="adj" fmla="val 94445"/>
                  </a:avLst>
                </a:prstGeom>
                <a:gradFill flip="none" rotWithShape="1">
                  <a:gsLst>
                    <a:gs pos="100000">
                      <a:schemeClr val="accent1">
                        <a:lumMod val="89000"/>
                      </a:schemeClr>
                    </a:gs>
                    <a:gs pos="0">
                      <a:schemeClr val="bg1"/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각형 32">
                  <a:extLst>
                    <a:ext uri="{FF2B5EF4-FFF2-40B4-BE49-F238E27FC236}">
                      <a16:creationId xmlns:a16="http://schemas.microsoft.com/office/drawing/2014/main" id="{BB034229-9F0E-41F6-8AD3-F75BFC662AE2}"/>
                    </a:ext>
                  </a:extLst>
                </p:cNvPr>
                <p:cNvSpPr/>
                <p:nvPr/>
              </p:nvSpPr>
              <p:spPr>
                <a:xfrm rot="5400000">
                  <a:off x="6194425" y="4589340"/>
                  <a:ext cx="180975" cy="281109"/>
                </a:xfrm>
                <a:prstGeom prst="homePlate">
                  <a:avLst>
                    <a:gd name="adj" fmla="val 94445"/>
                  </a:avLst>
                </a:prstGeom>
                <a:gradFill flip="none" rotWithShape="1">
                  <a:gsLst>
                    <a:gs pos="100000">
                      <a:schemeClr val="accent1">
                        <a:lumMod val="89000"/>
                      </a:schemeClr>
                    </a:gs>
                    <a:gs pos="0">
                      <a:schemeClr val="bg1"/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50" name="연결선: 구부러짐 49">
                <a:extLst>
                  <a:ext uri="{FF2B5EF4-FFF2-40B4-BE49-F238E27FC236}">
                    <a16:creationId xmlns:a16="http://schemas.microsoft.com/office/drawing/2014/main" id="{61F0C500-E190-47D5-AD6B-CC8B7E47106B}"/>
                  </a:ext>
                </a:extLst>
              </p:cNvPr>
              <p:cNvCxnSpPr>
                <a:cxnSpLocks/>
                <a:stCxn id="25" idx="3"/>
                <a:endCxn id="23" idx="3"/>
              </p:cNvCxnSpPr>
              <p:nvPr/>
            </p:nvCxnSpPr>
            <p:spPr>
              <a:xfrm flipV="1">
                <a:off x="8010525" y="2962275"/>
                <a:ext cx="12700" cy="2447925"/>
              </a:xfrm>
              <a:prstGeom prst="curvedConnector3">
                <a:avLst>
                  <a:gd name="adj1" fmla="val 2475000"/>
                </a:avLst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1000">
                      <a:schemeClr val="accent1">
                        <a:lumMod val="45000"/>
                        <a:lumOff val="55000"/>
                      </a:schemeClr>
                    </a:gs>
                    <a:gs pos="58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C746D85E-7532-438F-AD86-A0D05455F8F1}"/>
                  </a:ext>
                </a:extLst>
              </p:cNvPr>
              <p:cNvSpPr/>
              <p:nvPr/>
            </p:nvSpPr>
            <p:spPr>
              <a:xfrm>
                <a:off x="8132075" y="4076700"/>
                <a:ext cx="315203" cy="20002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9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DB고딕 B" panose="02020503020101020101" pitchFamily="18" charset="-127"/>
                    <a:ea typeface="DB고딕 B" panose="02020503020101020101" pitchFamily="18" charset="-127"/>
                  </a:rPr>
                  <a:t>반복</a:t>
                </a:r>
              </a:p>
            </p:txBody>
          </p:sp>
        </p:grpSp>
      </p:grpSp>
      <p:sp>
        <p:nvSpPr>
          <p:cNvPr id="57" name="사각형: 둥근 위쪽 모서리 56">
            <a:extLst>
              <a:ext uri="{FF2B5EF4-FFF2-40B4-BE49-F238E27FC236}">
                <a16:creationId xmlns:a16="http://schemas.microsoft.com/office/drawing/2014/main" id="{C94DCE93-704B-44F8-8C45-08DF6E3154A1}"/>
              </a:ext>
            </a:extLst>
          </p:cNvPr>
          <p:cNvSpPr/>
          <p:nvPr/>
        </p:nvSpPr>
        <p:spPr>
          <a:xfrm>
            <a:off x="676276" y="1828800"/>
            <a:ext cx="10810874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Selenium 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최적화 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‘AI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코드어시스턴트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’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 구축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7692FB03-ADC5-4DCD-9AFD-EA260BECD6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51" t="16722" r="31026" b="68302"/>
          <a:stretch/>
        </p:blipFill>
        <p:spPr>
          <a:xfrm>
            <a:off x="9915525" y="3009900"/>
            <a:ext cx="6381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2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3C672D-8756-4CB8-8C58-8714BCF74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세부수행방안 </a:t>
            </a:r>
            <a:r>
              <a:rPr lang="en-US" altLang="ko-KR">
                <a:solidFill>
                  <a:schemeClr val="tx1"/>
                </a:solidFill>
              </a:rPr>
              <a:t>(2/2)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D2790-7D9C-4994-B982-269BFC230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982" y="514777"/>
            <a:ext cx="693943" cy="351679"/>
          </a:xfrm>
        </p:spPr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03</a:t>
            </a:r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3DC8B-5A65-4AEB-9B64-056E29A5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400" b="1" spc="-70"/>
              <a:t>OpenAI GPT Builder</a:t>
            </a:r>
            <a:r>
              <a:rPr lang="ko-KR" altLang="en-US" sz="1400" b="1" spc="-70"/>
              <a:t>를 기반으로 코드어스시턴트를 구축하고 난이도별 테스트케이스를 설계하여 그 효용을 검증하고자 함</a:t>
            </a:r>
            <a:endParaRPr lang="en-US" altLang="ko-KR" sz="1400" b="1" spc="-70"/>
          </a:p>
          <a:p>
            <a:r>
              <a:rPr lang="ko-KR" altLang="en-US" sz="1400" b="1" spc="-70"/>
              <a:t>사람의 개입 및 수정없이 실제 동작 가능한 테스트코드의 생성 성공률을 본 과제의 핵심지표로 하여 </a:t>
            </a:r>
            <a:r>
              <a:rPr lang="en-US" altLang="ko-KR" sz="1400" b="1" spc="-70"/>
              <a:t>PoC</a:t>
            </a:r>
            <a:r>
              <a:rPr lang="ko-KR" altLang="en-US" sz="1400" b="1" spc="-70"/>
              <a:t>를 수행할 예정 </a:t>
            </a:r>
            <a:endParaRPr lang="ko-KR" altLang="en-US" sz="1400" b="1" spc="-7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D7EC6-C672-4092-95E1-C18730550F28}"/>
              </a:ext>
            </a:extLst>
          </p:cNvPr>
          <p:cNvGrpSpPr/>
          <p:nvPr/>
        </p:nvGrpSpPr>
        <p:grpSpPr>
          <a:xfrm>
            <a:off x="676276" y="1847850"/>
            <a:ext cx="10772774" cy="295275"/>
            <a:chOff x="704851" y="1905000"/>
            <a:chExt cx="9753599" cy="295275"/>
          </a:xfrm>
        </p:grpSpPr>
        <p:sp>
          <p:nvSpPr>
            <p:cNvPr id="11" name="사각형: 둥근 위쪽 모서리 10">
              <a:extLst>
                <a:ext uri="{FF2B5EF4-FFF2-40B4-BE49-F238E27FC236}">
                  <a16:creationId xmlns:a16="http://schemas.microsoft.com/office/drawing/2014/main" id="{DC6B9601-C9EA-4CA8-9843-4991DCED80DC}"/>
                </a:ext>
              </a:extLst>
            </p:cNvPr>
            <p:cNvSpPr/>
            <p:nvPr/>
          </p:nvSpPr>
          <p:spPr>
            <a:xfrm>
              <a:off x="704851" y="1905000"/>
              <a:ext cx="4848224" cy="295275"/>
            </a:xfrm>
            <a:prstGeom prst="round2SameRect">
              <a:avLst/>
            </a:prstGeom>
            <a:gradFill flip="none" rotWithShape="1">
              <a:gsLst>
                <a:gs pos="80000">
                  <a:srgbClr val="00B050"/>
                </a:gs>
                <a:gs pos="100000">
                  <a:schemeClr val="tx1"/>
                </a:gs>
              </a:gsLst>
              <a:lin ang="3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pPr algn="ctr"/>
              <a:r>
                <a:rPr lang="en-US" altLang="ko-KR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GPT Builder </a:t>
              </a:r>
              <a:r>
                <a: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활용 맞춤형 </a:t>
              </a:r>
              <a:r>
                <a:rPr lang="en-US" altLang="ko-KR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AI </a:t>
              </a:r>
              <a:r>
                <a: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구축</a:t>
              </a: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5D5A2151-CEE1-43A1-B824-411206535A87}"/>
                </a:ext>
              </a:extLst>
            </p:cNvPr>
            <p:cNvSpPr/>
            <p:nvPr/>
          </p:nvSpPr>
          <p:spPr>
            <a:xfrm>
              <a:off x="5610226" y="1905000"/>
              <a:ext cx="4848224" cy="295275"/>
            </a:xfrm>
            <a:prstGeom prst="round2SameRect">
              <a:avLst/>
            </a:prstGeom>
            <a:gradFill flip="none" rotWithShape="1">
              <a:gsLst>
                <a:gs pos="80000">
                  <a:srgbClr val="00B050"/>
                </a:gs>
                <a:gs pos="100000">
                  <a:schemeClr val="tx1"/>
                </a:gs>
              </a:gsLst>
              <a:lin ang="3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pPr algn="ctr"/>
              <a:r>
                <a: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테스트케이스 설계 및 검증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37DAF8D-70BC-474D-A64B-F768C7BF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857370"/>
              </p:ext>
            </p:extLst>
          </p:nvPr>
        </p:nvGraphicFramePr>
        <p:xfrm>
          <a:off x="6134100" y="2610010"/>
          <a:ext cx="5295899" cy="2333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3599">
                  <a:extLst>
                    <a:ext uri="{9D8B030D-6E8A-4147-A177-3AD203B41FA5}">
                      <a16:colId xmlns:a16="http://schemas.microsoft.com/office/drawing/2014/main" val="3474663329"/>
                    </a:ext>
                  </a:extLst>
                </a:gridCol>
                <a:gridCol w="1323974">
                  <a:extLst>
                    <a:ext uri="{9D8B030D-6E8A-4147-A177-3AD203B41FA5}">
                      <a16:colId xmlns:a16="http://schemas.microsoft.com/office/drawing/2014/main" val="4020540465"/>
                    </a:ext>
                  </a:extLst>
                </a:gridCol>
                <a:gridCol w="2611173">
                  <a:extLst>
                    <a:ext uri="{9D8B030D-6E8A-4147-A177-3AD203B41FA5}">
                      <a16:colId xmlns:a16="http://schemas.microsoft.com/office/drawing/2014/main" val="3547913447"/>
                    </a:ext>
                  </a:extLst>
                </a:gridCol>
                <a:gridCol w="717153">
                  <a:extLst>
                    <a:ext uri="{9D8B030D-6E8A-4147-A177-3AD203B41FA5}">
                      <a16:colId xmlns:a16="http://schemas.microsoft.com/office/drawing/2014/main" val="3095654520"/>
                    </a:ext>
                  </a:extLst>
                </a:gridCol>
              </a:tblGrid>
              <a:tr h="3359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난이도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유형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케이스 예시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246909"/>
                  </a:ext>
                </a:extLst>
              </a:tr>
              <a:tr h="537968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초급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기본 기능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로그인 성공</a:t>
                      </a:r>
                      <a:r>
                        <a:rPr kumimoji="0" 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실패 </a:t>
                      </a:r>
                      <a:r>
                        <a:rPr kumimoji="0" lang="en-US" altLang="ko-KR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&amp; 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로그아웃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특정 메뉴로 페이지 이동</a:t>
                      </a:r>
                      <a:r>
                        <a:rPr kumimoji="0" 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- 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로그아웃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종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814371"/>
                  </a:ext>
                </a:extLst>
              </a:tr>
              <a:tr h="729775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중급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데이터 조회</a:t>
                      </a:r>
                      <a:r>
                        <a:rPr 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입력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게시판 목록에서 특정 게시글 제목 확인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검색 기능으로 결과 조회 및 검증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게시글 작성 폼 입력 및 저장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종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363084"/>
                  </a:ext>
                </a:extLst>
              </a:tr>
              <a:tr h="729775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고급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복합</a:t>
                      </a:r>
                      <a:r>
                        <a:rPr 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동적 제어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날짜 선택 캘린더</a:t>
                      </a:r>
                      <a:r>
                        <a:rPr kumimoji="0" lang="en-US" altLang="ko-KR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제어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파일 첨부 기능 </a:t>
                      </a:r>
                      <a:r>
                        <a:rPr kumimoji="0" lang="en-US" altLang="ko-KR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+ 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드래그 앤 드랍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지도 </a:t>
                      </a:r>
                      <a:r>
                        <a:rPr kumimoji="0" lang="en-US" altLang="ko-KR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API </a:t>
                      </a:r>
                      <a:r>
                        <a:rPr kumimoji="0" lang="ko-KR" altLang="en-US" sz="1050" b="0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이용 및 위치정보 확인</a:t>
                      </a:r>
                      <a:endParaRPr kumimoji="0" lang="en-US" altLang="ko-KR" sz="1050" b="0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DB고딕 L" panose="02020503020101020101" pitchFamily="18" charset="-127"/>
                        <a:ea typeface="DB고딕 L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종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609183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72677F-AF5B-40A1-8256-82FB2423D2B3}"/>
              </a:ext>
            </a:extLst>
          </p:cNvPr>
          <p:cNvGrpSpPr/>
          <p:nvPr/>
        </p:nvGrpSpPr>
        <p:grpSpPr>
          <a:xfrm>
            <a:off x="507352" y="2199303"/>
            <a:ext cx="5473182" cy="1315616"/>
            <a:chOff x="526402" y="2332653"/>
            <a:chExt cx="5473182" cy="1315616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2AF701E-144A-4F14-BF6D-DE8FE7673007}"/>
                </a:ext>
              </a:extLst>
            </p:cNvPr>
            <p:cNvSpPr/>
            <p:nvPr/>
          </p:nvSpPr>
          <p:spPr>
            <a:xfrm>
              <a:off x="714375" y="2677886"/>
              <a:ext cx="5276850" cy="9703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19A33A8C-AD80-415E-A326-A991DEBEDAC6}"/>
                </a:ext>
              </a:extLst>
            </p:cNvPr>
            <p:cNvSpPr/>
            <p:nvPr/>
          </p:nvSpPr>
          <p:spPr>
            <a:xfrm>
              <a:off x="709127" y="2332653"/>
              <a:ext cx="5290457" cy="569167"/>
            </a:xfrm>
            <a:custGeom>
              <a:avLst/>
              <a:gdLst>
                <a:gd name="connsiteX0" fmla="*/ 66871 w 5281127"/>
                <a:gd name="connsiteY0" fmla="*/ 0 h 569167"/>
                <a:gd name="connsiteX1" fmla="*/ 5214256 w 5281127"/>
                <a:gd name="connsiteY1" fmla="*/ 0 h 569167"/>
                <a:gd name="connsiteX2" fmla="*/ 5281127 w 5281127"/>
                <a:gd name="connsiteY2" fmla="*/ 66871 h 569167"/>
                <a:gd name="connsiteX3" fmla="*/ 5281127 w 5281127"/>
                <a:gd name="connsiteY3" fmla="*/ 334345 h 569167"/>
                <a:gd name="connsiteX4" fmla="*/ 5214256 w 5281127"/>
                <a:gd name="connsiteY4" fmla="*/ 401216 h 569167"/>
                <a:gd name="connsiteX5" fmla="*/ 2649894 w 5281127"/>
                <a:gd name="connsiteY5" fmla="*/ 401216 h 569167"/>
                <a:gd name="connsiteX6" fmla="*/ 2547257 w 5281127"/>
                <a:gd name="connsiteY6" fmla="*/ 569167 h 569167"/>
                <a:gd name="connsiteX7" fmla="*/ 2444620 w 5281127"/>
                <a:gd name="connsiteY7" fmla="*/ 401216 h 569167"/>
                <a:gd name="connsiteX8" fmla="*/ 66871 w 5281127"/>
                <a:gd name="connsiteY8" fmla="*/ 401216 h 569167"/>
                <a:gd name="connsiteX9" fmla="*/ 0 w 5281127"/>
                <a:gd name="connsiteY9" fmla="*/ 334345 h 569167"/>
                <a:gd name="connsiteX10" fmla="*/ 0 w 5281127"/>
                <a:gd name="connsiteY10" fmla="*/ 66871 h 569167"/>
                <a:gd name="connsiteX11" fmla="*/ 66871 w 5281127"/>
                <a:gd name="connsiteY11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81127" h="569167">
                  <a:moveTo>
                    <a:pt x="66871" y="0"/>
                  </a:moveTo>
                  <a:lnTo>
                    <a:pt x="5214256" y="0"/>
                  </a:lnTo>
                  <a:cubicBezTo>
                    <a:pt x="5251188" y="0"/>
                    <a:pt x="5281127" y="29939"/>
                    <a:pt x="5281127" y="66871"/>
                  </a:cubicBezTo>
                  <a:lnTo>
                    <a:pt x="5281127" y="334345"/>
                  </a:lnTo>
                  <a:cubicBezTo>
                    <a:pt x="5281127" y="371277"/>
                    <a:pt x="5251188" y="401216"/>
                    <a:pt x="5214256" y="401216"/>
                  </a:cubicBezTo>
                  <a:lnTo>
                    <a:pt x="2649894" y="401216"/>
                  </a:lnTo>
                  <a:lnTo>
                    <a:pt x="2547257" y="569167"/>
                  </a:lnTo>
                  <a:lnTo>
                    <a:pt x="2444620" y="401216"/>
                  </a:lnTo>
                  <a:lnTo>
                    <a:pt x="66871" y="401216"/>
                  </a:lnTo>
                  <a:cubicBezTo>
                    <a:pt x="29939" y="401216"/>
                    <a:pt x="0" y="371277"/>
                    <a:pt x="0" y="334345"/>
                  </a:cubicBezTo>
                  <a:lnTo>
                    <a:pt x="0" y="66871"/>
                  </a:lnTo>
                  <a:cubicBezTo>
                    <a:pt x="0" y="29939"/>
                    <a:pt x="29939" y="0"/>
                    <a:pt x="6687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A5FC17-7DCF-46FB-981B-5739FFFA2808}"/>
                </a:ext>
              </a:extLst>
            </p:cNvPr>
            <p:cNvSpPr txBox="1"/>
            <p:nvPr/>
          </p:nvSpPr>
          <p:spPr>
            <a:xfrm>
              <a:off x="793102" y="2397966"/>
              <a:ext cx="512250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ko-KR" altLang="ko-KR" sz="1200" i="0" u="none" strike="noStrike" cap="none" spc="-90" normalizeH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DB고딕 B" panose="02020503020101020101" pitchFamily="18" charset="-127"/>
                  <a:ea typeface="DB고딕 B" panose="02020503020101020101" pitchFamily="18" charset="-127"/>
                </a:rPr>
                <a:t>지식베이스(Knowledge Base) 구축</a:t>
              </a:r>
              <a:r>
                <a:rPr kumimoji="0" lang="en-US" altLang="ko-KR" sz="1200" i="0" u="none" strike="noStrike" cap="none" spc="-90" normalizeH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DB고딕 B" panose="02020503020101020101" pitchFamily="18" charset="-127"/>
                  <a:ea typeface="DB고딕 B" panose="02020503020101020101" pitchFamily="18" charset="-127"/>
                </a:rPr>
                <a:t> </a:t>
              </a: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- </a:t>
              </a:r>
              <a:r>
                <a:rPr lang="ko-KR" altLang="en-US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성능 확보를 위한 데이터 자산</a:t>
              </a:r>
              <a:endParaRPr lang="ko-KR" altLang="ko-KR" sz="1200" spc="-9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4526CA-F6F7-4AFD-A4E7-CDE658B9FE22}"/>
                </a:ext>
              </a:extLst>
            </p:cNvPr>
            <p:cNvSpPr txBox="1"/>
            <p:nvPr/>
          </p:nvSpPr>
          <p:spPr>
            <a:xfrm>
              <a:off x="526402" y="2881993"/>
              <a:ext cx="4068147" cy="69890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628650" marR="0" lvl="1" indent="-171450" defTabSz="914400" rtl="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ko-KR" altLang="ko-KR" sz="1100" b="0" i="0" u="none" strike="noStrike" cap="none" normalizeH="0" baseline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effectLst/>
                  <a:latin typeface="DB고딕 L" panose="02020503020101020101" pitchFamily="18" charset="-127"/>
                  <a:ea typeface="DB고딕 L" panose="02020503020101020101" pitchFamily="18" charset="-127"/>
                </a:rPr>
                <a:t>Selenium 공식 문서 </a:t>
              </a:r>
              <a:endParaRPr kumimoji="0" lang="en-US" altLang="ko-KR" sz="1100" b="0" i="0" u="none" strike="noStrike" cap="none" normalizeH="0" baseline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DB고딕 L" panose="02020503020101020101" pitchFamily="18" charset="-127"/>
                <a:ea typeface="DB고딕 L" panose="02020503020101020101" pitchFamily="18" charset="-127"/>
              </a:endParaRPr>
            </a:p>
            <a:p>
              <a:pPr marL="628650" marR="0" lvl="1" indent="-171450" defTabSz="914400" rtl="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ko-KR" altLang="ko-KR" sz="1100" b="0" i="0" u="none" strike="noStrike" cap="none" normalizeH="0" baseline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effectLst/>
                  <a:latin typeface="DB고딕 L" panose="02020503020101020101" pitchFamily="18" charset="-127"/>
                  <a:ea typeface="DB고딕 L" panose="02020503020101020101" pitchFamily="18" charset="-127"/>
                </a:rPr>
                <a:t>사내 표준 가이드 </a:t>
              </a:r>
              <a:endParaRPr kumimoji="0" lang="en-US" altLang="ko-KR" sz="1100" b="0" i="0" u="none" strike="noStrike" cap="none" normalizeH="0" baseline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DB고딕 L" panose="02020503020101020101" pitchFamily="18" charset="-127"/>
                <a:ea typeface="DB고딕 L" panose="02020503020101020101" pitchFamily="18" charset="-127"/>
              </a:endParaRPr>
            </a:p>
            <a:p>
              <a:pPr marL="628650" marR="0" lvl="1" indent="-171450" defTabSz="914400" rtl="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ko-KR" altLang="ko-KR" sz="1100" b="0" i="0" u="none" strike="noStrike" cap="none" normalizeH="0" baseline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effectLst/>
                  <a:latin typeface="DB고딕 L" panose="02020503020101020101" pitchFamily="18" charset="-127"/>
                  <a:ea typeface="DB고딕 L" panose="02020503020101020101" pitchFamily="18" charset="-127"/>
                </a:rPr>
                <a:t>우수 코드 샘플 (실제 프로젝트 기반 '잘 작성된’ 코</a:t>
              </a:r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드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)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4130FD6-B62A-449E-92DB-6702B7A568C7}"/>
              </a:ext>
            </a:extLst>
          </p:cNvPr>
          <p:cNvGrpSpPr/>
          <p:nvPr/>
        </p:nvGrpSpPr>
        <p:grpSpPr>
          <a:xfrm>
            <a:off x="501650" y="3625332"/>
            <a:ext cx="5524500" cy="1315616"/>
            <a:chOff x="520700" y="2332653"/>
            <a:chExt cx="5524500" cy="131561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361CA73-498C-4DD4-A327-0B6BAC2DDA4F}"/>
                </a:ext>
              </a:extLst>
            </p:cNvPr>
            <p:cNvSpPr/>
            <p:nvPr/>
          </p:nvSpPr>
          <p:spPr>
            <a:xfrm>
              <a:off x="714375" y="2677886"/>
              <a:ext cx="5276850" cy="9703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D69BD2D2-08E7-4CC4-81BB-AFA396B6E72B}"/>
                </a:ext>
              </a:extLst>
            </p:cNvPr>
            <p:cNvSpPr/>
            <p:nvPr/>
          </p:nvSpPr>
          <p:spPr>
            <a:xfrm>
              <a:off x="709127" y="2332653"/>
              <a:ext cx="5290457" cy="569167"/>
            </a:xfrm>
            <a:custGeom>
              <a:avLst/>
              <a:gdLst>
                <a:gd name="connsiteX0" fmla="*/ 66871 w 5281127"/>
                <a:gd name="connsiteY0" fmla="*/ 0 h 569167"/>
                <a:gd name="connsiteX1" fmla="*/ 5214256 w 5281127"/>
                <a:gd name="connsiteY1" fmla="*/ 0 h 569167"/>
                <a:gd name="connsiteX2" fmla="*/ 5281127 w 5281127"/>
                <a:gd name="connsiteY2" fmla="*/ 66871 h 569167"/>
                <a:gd name="connsiteX3" fmla="*/ 5281127 w 5281127"/>
                <a:gd name="connsiteY3" fmla="*/ 334345 h 569167"/>
                <a:gd name="connsiteX4" fmla="*/ 5214256 w 5281127"/>
                <a:gd name="connsiteY4" fmla="*/ 401216 h 569167"/>
                <a:gd name="connsiteX5" fmla="*/ 2649894 w 5281127"/>
                <a:gd name="connsiteY5" fmla="*/ 401216 h 569167"/>
                <a:gd name="connsiteX6" fmla="*/ 2547257 w 5281127"/>
                <a:gd name="connsiteY6" fmla="*/ 569167 h 569167"/>
                <a:gd name="connsiteX7" fmla="*/ 2444620 w 5281127"/>
                <a:gd name="connsiteY7" fmla="*/ 401216 h 569167"/>
                <a:gd name="connsiteX8" fmla="*/ 66871 w 5281127"/>
                <a:gd name="connsiteY8" fmla="*/ 401216 h 569167"/>
                <a:gd name="connsiteX9" fmla="*/ 0 w 5281127"/>
                <a:gd name="connsiteY9" fmla="*/ 334345 h 569167"/>
                <a:gd name="connsiteX10" fmla="*/ 0 w 5281127"/>
                <a:gd name="connsiteY10" fmla="*/ 66871 h 569167"/>
                <a:gd name="connsiteX11" fmla="*/ 66871 w 5281127"/>
                <a:gd name="connsiteY11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81127" h="569167">
                  <a:moveTo>
                    <a:pt x="66871" y="0"/>
                  </a:moveTo>
                  <a:lnTo>
                    <a:pt x="5214256" y="0"/>
                  </a:lnTo>
                  <a:cubicBezTo>
                    <a:pt x="5251188" y="0"/>
                    <a:pt x="5281127" y="29939"/>
                    <a:pt x="5281127" y="66871"/>
                  </a:cubicBezTo>
                  <a:lnTo>
                    <a:pt x="5281127" y="334345"/>
                  </a:lnTo>
                  <a:cubicBezTo>
                    <a:pt x="5281127" y="371277"/>
                    <a:pt x="5251188" y="401216"/>
                    <a:pt x="5214256" y="401216"/>
                  </a:cubicBezTo>
                  <a:lnTo>
                    <a:pt x="2649894" y="401216"/>
                  </a:lnTo>
                  <a:lnTo>
                    <a:pt x="2547257" y="569167"/>
                  </a:lnTo>
                  <a:lnTo>
                    <a:pt x="2444620" y="401216"/>
                  </a:lnTo>
                  <a:lnTo>
                    <a:pt x="66871" y="401216"/>
                  </a:lnTo>
                  <a:cubicBezTo>
                    <a:pt x="29939" y="401216"/>
                    <a:pt x="0" y="371277"/>
                    <a:pt x="0" y="334345"/>
                  </a:cubicBezTo>
                  <a:lnTo>
                    <a:pt x="0" y="66871"/>
                  </a:lnTo>
                  <a:cubicBezTo>
                    <a:pt x="0" y="29939"/>
                    <a:pt x="29939" y="0"/>
                    <a:pt x="6687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2D7630-6BEC-4C7F-B3A5-934AF03260FA}"/>
                </a:ext>
              </a:extLst>
            </p:cNvPr>
            <p:cNvSpPr txBox="1"/>
            <p:nvPr/>
          </p:nvSpPr>
          <p:spPr>
            <a:xfrm>
              <a:off x="793102" y="2397966"/>
              <a:ext cx="5122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맞춤형 AI 초기 모델</a:t>
              </a: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 </a:t>
              </a:r>
              <a:r>
                <a:rPr lang="ko-KR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생성</a:t>
              </a: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 </a:t>
              </a: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- GPT Builder </a:t>
              </a:r>
              <a:r>
                <a:rPr lang="ko-KR" altLang="en-US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활용 역할과 규칙 부여</a:t>
              </a:r>
              <a:endParaRPr lang="ko-KR" altLang="ko-KR" sz="1200" spc="-9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65ABB0-002D-4515-88EE-C45CFA612848}"/>
                </a:ext>
              </a:extLst>
            </p:cNvPr>
            <p:cNvSpPr txBox="1"/>
            <p:nvPr/>
          </p:nvSpPr>
          <p:spPr>
            <a:xfrm>
              <a:off x="520700" y="2901043"/>
              <a:ext cx="5524500" cy="69890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62865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역할 정의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Selenium 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UI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테스트 자동화 전문가</a:t>
              </a:r>
            </a:p>
            <a:p>
              <a:pPr marL="62865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규칙 설정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사내 표준 준수, Knowledge 기반 답변, 불명확한 요구사항 질문</a:t>
              </a:r>
            </a:p>
            <a:p>
              <a:pPr marL="62865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지식 연결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준비된 지식베이스 파일 업로드</a:t>
              </a:r>
              <a:endParaRPr lang="en-US" altLang="ko-KR"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DB고딕 L" panose="02020503020101020101" pitchFamily="18" charset="-127"/>
                <a:ea typeface="DB고딕 L" panose="020205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729AA7C-AFDE-4C64-BA44-0A20B390A7A2}"/>
              </a:ext>
            </a:extLst>
          </p:cNvPr>
          <p:cNvGrpSpPr/>
          <p:nvPr/>
        </p:nvGrpSpPr>
        <p:grpSpPr>
          <a:xfrm>
            <a:off x="685799" y="5051360"/>
            <a:ext cx="5294735" cy="1315616"/>
            <a:chOff x="704849" y="2332653"/>
            <a:chExt cx="5294735" cy="131561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A8B0D12-C697-45DD-88D1-586921279993}"/>
                </a:ext>
              </a:extLst>
            </p:cNvPr>
            <p:cNvSpPr/>
            <p:nvPr/>
          </p:nvSpPr>
          <p:spPr>
            <a:xfrm>
              <a:off x="704849" y="2677886"/>
              <a:ext cx="5286375" cy="9703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3179D0F3-7E4E-4CB6-A27A-607B9412E31C}"/>
                </a:ext>
              </a:extLst>
            </p:cNvPr>
            <p:cNvSpPr/>
            <p:nvPr/>
          </p:nvSpPr>
          <p:spPr>
            <a:xfrm>
              <a:off x="709127" y="2332653"/>
              <a:ext cx="5290457" cy="569167"/>
            </a:xfrm>
            <a:custGeom>
              <a:avLst/>
              <a:gdLst>
                <a:gd name="connsiteX0" fmla="*/ 66871 w 5281127"/>
                <a:gd name="connsiteY0" fmla="*/ 0 h 569167"/>
                <a:gd name="connsiteX1" fmla="*/ 5214256 w 5281127"/>
                <a:gd name="connsiteY1" fmla="*/ 0 h 569167"/>
                <a:gd name="connsiteX2" fmla="*/ 5281127 w 5281127"/>
                <a:gd name="connsiteY2" fmla="*/ 66871 h 569167"/>
                <a:gd name="connsiteX3" fmla="*/ 5281127 w 5281127"/>
                <a:gd name="connsiteY3" fmla="*/ 334345 h 569167"/>
                <a:gd name="connsiteX4" fmla="*/ 5214256 w 5281127"/>
                <a:gd name="connsiteY4" fmla="*/ 401216 h 569167"/>
                <a:gd name="connsiteX5" fmla="*/ 2649894 w 5281127"/>
                <a:gd name="connsiteY5" fmla="*/ 401216 h 569167"/>
                <a:gd name="connsiteX6" fmla="*/ 2547257 w 5281127"/>
                <a:gd name="connsiteY6" fmla="*/ 569167 h 569167"/>
                <a:gd name="connsiteX7" fmla="*/ 2444620 w 5281127"/>
                <a:gd name="connsiteY7" fmla="*/ 401216 h 569167"/>
                <a:gd name="connsiteX8" fmla="*/ 66871 w 5281127"/>
                <a:gd name="connsiteY8" fmla="*/ 401216 h 569167"/>
                <a:gd name="connsiteX9" fmla="*/ 0 w 5281127"/>
                <a:gd name="connsiteY9" fmla="*/ 334345 h 569167"/>
                <a:gd name="connsiteX10" fmla="*/ 0 w 5281127"/>
                <a:gd name="connsiteY10" fmla="*/ 66871 h 569167"/>
                <a:gd name="connsiteX11" fmla="*/ 66871 w 5281127"/>
                <a:gd name="connsiteY11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81127" h="569167">
                  <a:moveTo>
                    <a:pt x="66871" y="0"/>
                  </a:moveTo>
                  <a:lnTo>
                    <a:pt x="5214256" y="0"/>
                  </a:lnTo>
                  <a:cubicBezTo>
                    <a:pt x="5251188" y="0"/>
                    <a:pt x="5281127" y="29939"/>
                    <a:pt x="5281127" y="66871"/>
                  </a:cubicBezTo>
                  <a:lnTo>
                    <a:pt x="5281127" y="334345"/>
                  </a:lnTo>
                  <a:cubicBezTo>
                    <a:pt x="5281127" y="371277"/>
                    <a:pt x="5251188" y="401216"/>
                    <a:pt x="5214256" y="401216"/>
                  </a:cubicBezTo>
                  <a:lnTo>
                    <a:pt x="2649894" y="401216"/>
                  </a:lnTo>
                  <a:lnTo>
                    <a:pt x="2547257" y="569167"/>
                  </a:lnTo>
                  <a:lnTo>
                    <a:pt x="2444620" y="401216"/>
                  </a:lnTo>
                  <a:lnTo>
                    <a:pt x="66871" y="401216"/>
                  </a:lnTo>
                  <a:cubicBezTo>
                    <a:pt x="29939" y="401216"/>
                    <a:pt x="0" y="371277"/>
                    <a:pt x="0" y="334345"/>
                  </a:cubicBezTo>
                  <a:lnTo>
                    <a:pt x="0" y="66871"/>
                  </a:lnTo>
                  <a:cubicBezTo>
                    <a:pt x="0" y="29939"/>
                    <a:pt x="29939" y="0"/>
                    <a:pt x="6687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1ECF61-22A5-425A-AE7A-DC4B6BD34C6D}"/>
                </a:ext>
              </a:extLst>
            </p:cNvPr>
            <p:cNvSpPr txBox="1"/>
            <p:nvPr/>
          </p:nvSpPr>
          <p:spPr>
            <a:xfrm>
              <a:off x="793102" y="2397966"/>
              <a:ext cx="5122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AI </a:t>
              </a:r>
              <a:r>
                <a:rPr lang="ko-KR" altLang="en-US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모델 고도화  </a:t>
              </a:r>
              <a:r>
                <a:rPr lang="en-US" altLang="ko-KR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- </a:t>
              </a:r>
              <a:r>
                <a:rPr lang="ko-KR" altLang="en-US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케이스스터디를 통한 모델 개선</a:t>
              </a:r>
              <a:endParaRPr lang="ko-KR" altLang="ko-KR" sz="1200" spc="-9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F6D7B5F-26A7-4D6C-865C-F0464660908E}"/>
              </a:ext>
            </a:extLst>
          </p:cNvPr>
          <p:cNvGrpSpPr/>
          <p:nvPr/>
        </p:nvGrpSpPr>
        <p:grpSpPr>
          <a:xfrm>
            <a:off x="863599" y="5694240"/>
            <a:ext cx="4819651" cy="560509"/>
            <a:chOff x="882649" y="5865690"/>
            <a:chExt cx="4819651" cy="560509"/>
          </a:xfrm>
        </p:grpSpPr>
        <p:sp>
          <p:nvSpPr>
            <p:cNvPr id="30" name="사각형: 둥근 한쪽 모서리 29">
              <a:extLst>
                <a:ext uri="{FF2B5EF4-FFF2-40B4-BE49-F238E27FC236}">
                  <a16:creationId xmlns:a16="http://schemas.microsoft.com/office/drawing/2014/main" id="{AEA969AD-2732-4C1F-841D-31ED16398F31}"/>
                </a:ext>
              </a:extLst>
            </p:cNvPr>
            <p:cNvSpPr/>
            <p:nvPr/>
          </p:nvSpPr>
          <p:spPr>
            <a:xfrm>
              <a:off x="882649" y="5865690"/>
              <a:ext cx="1454151" cy="560509"/>
            </a:xfrm>
            <a:prstGeom prst="round1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5000">
                  <a:schemeClr val="bg1"/>
                </a:gs>
              </a:gsLst>
              <a:lin ang="2700000" scaled="1"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실패원인분석</a:t>
              </a: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B181F074-01C8-41E9-B577-A23319AEC1E2}"/>
                </a:ext>
              </a:extLst>
            </p:cNvPr>
            <p:cNvSpPr/>
            <p:nvPr/>
          </p:nvSpPr>
          <p:spPr>
            <a:xfrm>
              <a:off x="2371725" y="6018090"/>
              <a:ext cx="180975" cy="281109"/>
            </a:xfrm>
            <a:prstGeom prst="homePlate">
              <a:avLst>
                <a:gd name="adj" fmla="val 94445"/>
              </a:avLst>
            </a:prstGeom>
            <a:gradFill flip="none" rotWithShape="1">
              <a:gsLst>
                <a:gs pos="100000">
                  <a:schemeClr val="accent1">
                    <a:lumMod val="89000"/>
                  </a:schemeClr>
                </a:gs>
                <a:gs pos="0">
                  <a:schemeClr val="bg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6" name="사각형: 둥근 한쪽 모서리 35">
              <a:extLst>
                <a:ext uri="{FF2B5EF4-FFF2-40B4-BE49-F238E27FC236}">
                  <a16:creationId xmlns:a16="http://schemas.microsoft.com/office/drawing/2014/main" id="{FD2B6D87-2E43-4486-A35B-FE3DB1EC41B8}"/>
                </a:ext>
              </a:extLst>
            </p:cNvPr>
            <p:cNvSpPr/>
            <p:nvPr/>
          </p:nvSpPr>
          <p:spPr>
            <a:xfrm>
              <a:off x="2565399" y="5865690"/>
              <a:ext cx="1454151" cy="560509"/>
            </a:xfrm>
            <a:prstGeom prst="round1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5000">
                  <a:schemeClr val="bg1"/>
                </a:gs>
              </a:gsLst>
              <a:lin ang="2700000" scaled="1"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지식베이스 보강</a:t>
              </a:r>
              <a:endParaRPr lang="en-US" altLang="ko-KR"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  <a:p>
              <a:pPr algn="ctr"/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(</a:t>
              </a:r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해결 예제 추가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)</a:t>
              </a:r>
              <a:endParaRPr lang="ko-KR" altLang="en-US"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37" name="사각형: 둥근 한쪽 모서리 36">
              <a:extLst>
                <a:ext uri="{FF2B5EF4-FFF2-40B4-BE49-F238E27FC236}">
                  <a16:creationId xmlns:a16="http://schemas.microsoft.com/office/drawing/2014/main" id="{018FC695-3108-480B-895A-0B9BD3980332}"/>
                </a:ext>
              </a:extLst>
            </p:cNvPr>
            <p:cNvSpPr/>
            <p:nvPr/>
          </p:nvSpPr>
          <p:spPr>
            <a:xfrm>
              <a:off x="4248149" y="5865690"/>
              <a:ext cx="1454151" cy="560509"/>
            </a:xfrm>
            <a:prstGeom prst="round1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5000">
                  <a:schemeClr val="bg1"/>
                </a:gs>
              </a:gsLst>
              <a:lin ang="2700000" scaled="1"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모델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 </a:t>
              </a:r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튜닝</a:t>
              </a:r>
              <a:endParaRPr lang="en-US" altLang="ko-KR"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  <a:p>
              <a:pPr algn="ctr"/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(</a:t>
              </a:r>
              <a:r>
                <a:rPr lang="ko-KR" altLang="en-US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규칙 구체화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DB고딕 M" panose="02020503020101020101" pitchFamily="18" charset="-127"/>
                  <a:ea typeface="DB고딕 M" panose="02020503020101020101" pitchFamily="18" charset="-127"/>
                </a:rPr>
                <a:t>)</a:t>
              </a:r>
              <a:endParaRPr lang="ko-KR" altLang="en-US"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endParaRPr>
            </a:p>
          </p:txBody>
        </p:sp>
        <p:sp>
          <p:nvSpPr>
            <p:cNvPr id="38" name="화살표: 오각형 37">
              <a:extLst>
                <a:ext uri="{FF2B5EF4-FFF2-40B4-BE49-F238E27FC236}">
                  <a16:creationId xmlns:a16="http://schemas.microsoft.com/office/drawing/2014/main" id="{3EE0977F-5010-4074-8EDF-52FA5F435D8B}"/>
                </a:ext>
              </a:extLst>
            </p:cNvPr>
            <p:cNvSpPr/>
            <p:nvPr/>
          </p:nvSpPr>
          <p:spPr>
            <a:xfrm>
              <a:off x="4060825" y="6018090"/>
              <a:ext cx="180975" cy="281109"/>
            </a:xfrm>
            <a:prstGeom prst="homePlate">
              <a:avLst>
                <a:gd name="adj" fmla="val 94445"/>
              </a:avLst>
            </a:prstGeom>
            <a:gradFill flip="none" rotWithShape="1">
              <a:gsLst>
                <a:gs pos="100000">
                  <a:schemeClr val="accent1">
                    <a:lumMod val="89000"/>
                  </a:schemeClr>
                </a:gs>
                <a:gs pos="0">
                  <a:schemeClr val="bg1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</p:grp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67A16C4-74A6-4E0D-8130-CC63CD547720}"/>
              </a:ext>
            </a:extLst>
          </p:cNvPr>
          <p:cNvSpPr/>
          <p:nvPr/>
        </p:nvSpPr>
        <p:spPr>
          <a:xfrm>
            <a:off x="6103749" y="2209800"/>
            <a:ext cx="5335776" cy="3905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9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체계적인 테스트케이스 설계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0012B38-6727-456F-B6EA-F3BB8BE4288C}"/>
              </a:ext>
            </a:extLst>
          </p:cNvPr>
          <p:cNvGrpSpPr/>
          <p:nvPr/>
        </p:nvGrpSpPr>
        <p:grpSpPr>
          <a:xfrm>
            <a:off x="5940425" y="5044557"/>
            <a:ext cx="5524500" cy="1315616"/>
            <a:chOff x="520700" y="2332653"/>
            <a:chExt cx="5524500" cy="1315616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22A4E76-B06D-4EE9-BC78-F3DDDC51CBEC}"/>
                </a:ext>
              </a:extLst>
            </p:cNvPr>
            <p:cNvSpPr/>
            <p:nvPr/>
          </p:nvSpPr>
          <p:spPr>
            <a:xfrm>
              <a:off x="714374" y="2677886"/>
              <a:ext cx="5286375" cy="9703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17D35937-F05E-4C70-B62D-6BF68AC42757}"/>
                </a:ext>
              </a:extLst>
            </p:cNvPr>
            <p:cNvSpPr/>
            <p:nvPr/>
          </p:nvSpPr>
          <p:spPr>
            <a:xfrm>
              <a:off x="709127" y="2332653"/>
              <a:ext cx="5290457" cy="569167"/>
            </a:xfrm>
            <a:custGeom>
              <a:avLst/>
              <a:gdLst>
                <a:gd name="connsiteX0" fmla="*/ 66871 w 5281127"/>
                <a:gd name="connsiteY0" fmla="*/ 0 h 569167"/>
                <a:gd name="connsiteX1" fmla="*/ 5214256 w 5281127"/>
                <a:gd name="connsiteY1" fmla="*/ 0 h 569167"/>
                <a:gd name="connsiteX2" fmla="*/ 5281127 w 5281127"/>
                <a:gd name="connsiteY2" fmla="*/ 66871 h 569167"/>
                <a:gd name="connsiteX3" fmla="*/ 5281127 w 5281127"/>
                <a:gd name="connsiteY3" fmla="*/ 334345 h 569167"/>
                <a:gd name="connsiteX4" fmla="*/ 5214256 w 5281127"/>
                <a:gd name="connsiteY4" fmla="*/ 401216 h 569167"/>
                <a:gd name="connsiteX5" fmla="*/ 2649894 w 5281127"/>
                <a:gd name="connsiteY5" fmla="*/ 401216 h 569167"/>
                <a:gd name="connsiteX6" fmla="*/ 2547257 w 5281127"/>
                <a:gd name="connsiteY6" fmla="*/ 569167 h 569167"/>
                <a:gd name="connsiteX7" fmla="*/ 2444620 w 5281127"/>
                <a:gd name="connsiteY7" fmla="*/ 401216 h 569167"/>
                <a:gd name="connsiteX8" fmla="*/ 66871 w 5281127"/>
                <a:gd name="connsiteY8" fmla="*/ 401216 h 569167"/>
                <a:gd name="connsiteX9" fmla="*/ 0 w 5281127"/>
                <a:gd name="connsiteY9" fmla="*/ 334345 h 569167"/>
                <a:gd name="connsiteX10" fmla="*/ 0 w 5281127"/>
                <a:gd name="connsiteY10" fmla="*/ 66871 h 569167"/>
                <a:gd name="connsiteX11" fmla="*/ 66871 w 5281127"/>
                <a:gd name="connsiteY11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81127" h="569167">
                  <a:moveTo>
                    <a:pt x="66871" y="0"/>
                  </a:moveTo>
                  <a:lnTo>
                    <a:pt x="5214256" y="0"/>
                  </a:lnTo>
                  <a:cubicBezTo>
                    <a:pt x="5251188" y="0"/>
                    <a:pt x="5281127" y="29939"/>
                    <a:pt x="5281127" y="66871"/>
                  </a:cubicBezTo>
                  <a:lnTo>
                    <a:pt x="5281127" y="334345"/>
                  </a:lnTo>
                  <a:cubicBezTo>
                    <a:pt x="5281127" y="371277"/>
                    <a:pt x="5251188" y="401216"/>
                    <a:pt x="5214256" y="401216"/>
                  </a:cubicBezTo>
                  <a:lnTo>
                    <a:pt x="2649894" y="401216"/>
                  </a:lnTo>
                  <a:lnTo>
                    <a:pt x="2547257" y="569167"/>
                  </a:lnTo>
                  <a:lnTo>
                    <a:pt x="2444620" y="401216"/>
                  </a:lnTo>
                  <a:lnTo>
                    <a:pt x="66871" y="401216"/>
                  </a:lnTo>
                  <a:cubicBezTo>
                    <a:pt x="29939" y="401216"/>
                    <a:pt x="0" y="371277"/>
                    <a:pt x="0" y="334345"/>
                  </a:cubicBezTo>
                  <a:lnTo>
                    <a:pt x="0" y="66871"/>
                  </a:lnTo>
                  <a:cubicBezTo>
                    <a:pt x="0" y="29939"/>
                    <a:pt x="29939" y="0"/>
                    <a:pt x="6687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FDBB344-F47B-4445-80A9-33C02FD38B28}"/>
                </a:ext>
              </a:extLst>
            </p:cNvPr>
            <p:cNvSpPr txBox="1"/>
            <p:nvPr/>
          </p:nvSpPr>
          <p:spPr>
            <a:xfrm>
              <a:off x="793102" y="2397966"/>
              <a:ext cx="5122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 spc="-9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DB고딕 B" panose="02020503020101020101" pitchFamily="18" charset="-127"/>
                  <a:ea typeface="DB고딕 B" panose="02020503020101020101" pitchFamily="18" charset="-127"/>
                </a:rPr>
                <a:t>무수정 테스트코드 생성 및 실행 검증</a:t>
              </a:r>
              <a:endParaRPr lang="ko-KR" altLang="ko-KR" sz="1200" spc="-9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B" panose="02020503020101020101" pitchFamily="18" charset="-127"/>
                <a:ea typeface="DB고딕 B" panose="02020503020101020101" pitchFamily="18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B02E2F-B7E3-4922-B3FC-A6DB8A8A6F4D}"/>
                </a:ext>
              </a:extLst>
            </p:cNvPr>
            <p:cNvSpPr txBox="1"/>
            <p:nvPr/>
          </p:nvSpPr>
          <p:spPr>
            <a:xfrm>
              <a:off x="520700" y="2901043"/>
              <a:ext cx="5524500" cy="69890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628650" marR="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프롬프트 표준화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일관된 형식의 절차형 프롬프트 사용</a:t>
              </a:r>
            </a:p>
            <a:p>
              <a:pPr marL="628650" marR="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수정 없는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실행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생성된 코드를 즉시 실행하고 결과 기록</a:t>
              </a:r>
            </a:p>
            <a:p>
              <a:pPr marL="628650" marR="0" lvl="1" indent="-17145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결과 기록</a:t>
              </a:r>
              <a:r>
                <a:rPr lang="en-US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 </a:t>
              </a:r>
              <a:r>
                <a:rPr lang="ko-KR" altLang="ko-KR" sz="110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DB고딕 L" panose="02020503020101020101" pitchFamily="18" charset="-127"/>
                  <a:ea typeface="DB고딕 L" panose="02020503020101020101" pitchFamily="18" charset="-127"/>
                </a:rPr>
                <a:t>: 성공/실패 여부 및 오류 로그 상세 기록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54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3C672D-8756-4CB8-8C58-8714BCF74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성공기준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D2790-7D9C-4994-B982-269BFC230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982" y="514777"/>
            <a:ext cx="693943" cy="351679"/>
          </a:xfrm>
        </p:spPr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04</a:t>
            </a:r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3DC8B-5A65-4AEB-9B64-056E29A5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b="1" spc="-70"/>
              <a:t>본 </a:t>
            </a:r>
            <a:r>
              <a:rPr lang="en-US" altLang="ko-KR" sz="1400" b="1" spc="-70"/>
              <a:t>PoC </a:t>
            </a:r>
            <a:r>
              <a:rPr lang="ko-KR" altLang="en-US" sz="1400" b="1" spc="-70"/>
              <a:t>평가는 기술적 타당성과 비즈니스 가치를 종합적으로 검증하는 다차원 평가 모델을 적용함</a:t>
            </a:r>
          </a:p>
          <a:p>
            <a:r>
              <a:rPr lang="ko-KR" altLang="en-US" sz="1400" b="1" spc="-70"/>
              <a:t>이에 최소 성능 요구 조건의 선행 검증을 통과한 경우에 한해</a:t>
            </a:r>
            <a:r>
              <a:rPr lang="en-US" altLang="ko-KR" sz="1400" b="1" spc="-70"/>
              <a:t>, </a:t>
            </a:r>
            <a:r>
              <a:rPr lang="ko-KR" altLang="en-US" sz="1400" b="1" spc="-70"/>
              <a:t>기능 성공률에 따라 최종 사업화 등급을 판정하고자 함</a:t>
            </a:r>
          </a:p>
          <a:p>
            <a:endParaRPr lang="ko-KR" altLang="en-US" sz="1400" b="1" spc="-7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CAC7DA-17A8-423C-A3CC-7A073B58D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7536"/>
              </p:ext>
            </p:extLst>
          </p:nvPr>
        </p:nvGraphicFramePr>
        <p:xfrm>
          <a:off x="733425" y="2181224"/>
          <a:ext cx="10734673" cy="1838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2941">
                  <a:extLst>
                    <a:ext uri="{9D8B030D-6E8A-4147-A177-3AD203B41FA5}">
                      <a16:colId xmlns:a16="http://schemas.microsoft.com/office/drawing/2014/main" val="3674123411"/>
                    </a:ext>
                  </a:extLst>
                </a:gridCol>
                <a:gridCol w="2495900">
                  <a:extLst>
                    <a:ext uri="{9D8B030D-6E8A-4147-A177-3AD203B41FA5}">
                      <a16:colId xmlns:a16="http://schemas.microsoft.com/office/drawing/2014/main" val="2341952216"/>
                    </a:ext>
                  </a:extLst>
                </a:gridCol>
                <a:gridCol w="6035832">
                  <a:extLst>
                    <a:ext uri="{9D8B030D-6E8A-4147-A177-3AD203B41FA5}">
                      <a16:colId xmlns:a16="http://schemas.microsoft.com/office/drawing/2014/main" val="2255109851"/>
                    </a:ext>
                  </a:extLst>
                </a:gridCol>
              </a:tblGrid>
              <a:tr h="36217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판정 등급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기준</a:t>
                      </a:r>
                      <a:r>
                        <a:rPr kumimoji="0" 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해석 및 후속 조치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81634"/>
                  </a:ext>
                </a:extLst>
              </a:tr>
              <a:tr h="4920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사업화 적합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성공률</a:t>
                      </a: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80% 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이상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기술적 타당성이 완벽히 입증됨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즉시 사업 모델 구체화 및 파일럿 프로젝트 이행을 추진함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5355"/>
                  </a:ext>
                </a:extLst>
              </a:tr>
              <a:tr h="4920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가능성 확인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성공률</a:t>
                      </a: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60%~79%</a:t>
                      </a:r>
                      <a:endParaRPr lang="ko-KR" altLang="en-US" sz="1200" b="1" kern="1200" spc="-11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DB고딕 M" panose="02020503020101020101" pitchFamily="18" charset="-127"/>
                        <a:ea typeface="DB고딕 M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AI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의 잠재력은 확인되었으나</a:t>
                      </a:r>
                      <a:r>
                        <a:rPr 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상용화 수준에 미치지 못함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성능 개선을 위한 추가</a:t>
                      </a:r>
                      <a:r>
                        <a:rPr 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R&amp;D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후 재검증이 필요함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40201"/>
                  </a:ext>
                </a:extLst>
              </a:tr>
              <a:tr h="4920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사업화 재검토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성공률</a:t>
                      </a:r>
                      <a:r>
                        <a:rPr 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 60% 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미만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현 단계에서 맞춤형</a:t>
                      </a:r>
                      <a:r>
                        <a:rPr 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 AI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구축의 실익이 없음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사업화 보류 및 기반 기술의 성숙도 재검토가 필요함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6805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F1735F8-777E-4544-ADAB-9D73E75E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008407"/>
              </p:ext>
            </p:extLst>
          </p:nvPr>
        </p:nvGraphicFramePr>
        <p:xfrm>
          <a:off x="714374" y="4515095"/>
          <a:ext cx="10734673" cy="1742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2941">
                  <a:extLst>
                    <a:ext uri="{9D8B030D-6E8A-4147-A177-3AD203B41FA5}">
                      <a16:colId xmlns:a16="http://schemas.microsoft.com/office/drawing/2014/main" val="3674123411"/>
                    </a:ext>
                  </a:extLst>
                </a:gridCol>
                <a:gridCol w="5297500">
                  <a:extLst>
                    <a:ext uri="{9D8B030D-6E8A-4147-A177-3AD203B41FA5}">
                      <a16:colId xmlns:a16="http://schemas.microsoft.com/office/drawing/2014/main" val="2341952216"/>
                    </a:ext>
                  </a:extLst>
                </a:gridCol>
                <a:gridCol w="3234232">
                  <a:extLst>
                    <a:ext uri="{9D8B030D-6E8A-4147-A177-3AD203B41FA5}">
                      <a16:colId xmlns:a16="http://schemas.microsoft.com/office/drawing/2014/main" val="2255109851"/>
                    </a:ext>
                  </a:extLst>
                </a:gridCol>
              </a:tblGrid>
              <a:tr h="38077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성능지표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측정방식</a:t>
                      </a:r>
                      <a:endParaRPr kumimoji="0" lang="en-US" sz="1200" b="1" i="0" u="none" strike="noStrike" kern="1200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DB고딕 M" panose="02020503020101020101" pitchFamily="18" charset="-127"/>
                        <a:ea typeface="DB고딕 M" panose="02020503020101020101" pitchFamily="18" charset="-127"/>
                        <a:cs typeface="+mn-cs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최소 요구 조건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81634"/>
                  </a:ext>
                </a:extLst>
              </a:tr>
              <a:tr h="45401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응답시간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사용자 프롬프트 입력 시점부터 전체 코드 생성이 완료되기까지의 시간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평균 </a:t>
                      </a:r>
                      <a:r>
                        <a:rPr lang="en-US" altLang="ko-KR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초 이내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5355"/>
                  </a:ext>
                </a:extLst>
              </a:tr>
              <a:tr h="45401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시스템안정성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총 요청 횟수 대비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시스템 내부 오류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에러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타임아웃 등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없이 정상 응답한 비율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altLang="ko-KR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90% 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이상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40201"/>
                  </a:ext>
                </a:extLst>
              </a:tr>
              <a:tr h="45401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결과 일관성</a:t>
                      </a: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동일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유사한 프롬프트를 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회 반복 입력 시</a:t>
                      </a:r>
                      <a:r>
                        <a:rPr lang="en-US" altLang="ko-KR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8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DB고딕 L" panose="02020503020101020101" pitchFamily="18" charset="-127"/>
                          <a:ea typeface="DB고딕 L" panose="02020503020101020101" pitchFamily="18" charset="-127"/>
                          <a:cs typeface="+mn-cs"/>
                        </a:rPr>
                        <a:t>생성결과물이 모두 동일한 목표를 달성하는 비율</a:t>
                      </a: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4000"/>
                        </a:lnSpc>
                      </a:pPr>
                      <a:r>
                        <a:rPr lang="en-US" altLang="ko-KR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80% </a:t>
                      </a:r>
                      <a:r>
                        <a:rPr lang="ko-KR" altLang="en-US" sz="1200" b="1" kern="1200" spc="-11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이상</a:t>
                      </a:r>
                    </a:p>
                  </a:txBody>
                  <a:tcPr marL="216000" marR="1143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68057"/>
                  </a:ext>
                </a:extLst>
              </a:tr>
            </a:tbl>
          </a:graphicData>
        </a:graphic>
      </p:graphicFrame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A63C0B55-D3E4-4AD9-A432-00613BC230B0}"/>
              </a:ext>
            </a:extLst>
          </p:cNvPr>
          <p:cNvSpPr/>
          <p:nvPr/>
        </p:nvSpPr>
        <p:spPr>
          <a:xfrm>
            <a:off x="723901" y="1895475"/>
            <a:ext cx="10763249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PoC 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평가 기준 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: 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사업화 등급 </a:t>
            </a: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7F48DCB9-86D4-40DB-B9DA-A9F150E7219B}"/>
              </a:ext>
            </a:extLst>
          </p:cNvPr>
          <p:cNvSpPr/>
          <p:nvPr/>
        </p:nvSpPr>
        <p:spPr>
          <a:xfrm>
            <a:off x="704851" y="4229100"/>
            <a:ext cx="10763249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최소 성능 요구 조건</a:t>
            </a:r>
          </a:p>
        </p:txBody>
      </p:sp>
    </p:spTree>
    <p:extLst>
      <p:ext uri="{BB962C8B-B14F-4D97-AF65-F5344CB8AC3E}">
        <p14:creationId xmlns:p14="http://schemas.microsoft.com/office/powerpoint/2010/main" val="318723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BEA9911-D245-47FF-9C43-E0448EE0CAFA}"/>
              </a:ext>
            </a:extLst>
          </p:cNvPr>
          <p:cNvSpPr/>
          <p:nvPr/>
        </p:nvSpPr>
        <p:spPr>
          <a:xfrm>
            <a:off x="4493389" y="2295524"/>
            <a:ext cx="3148075" cy="4048126"/>
          </a:xfrm>
          <a:prstGeom prst="roundRect">
            <a:avLst>
              <a:gd name="adj" fmla="val 979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3CE919B-2CA8-4C4E-991E-0B15DBE65711}"/>
              </a:ext>
            </a:extLst>
          </p:cNvPr>
          <p:cNvSpPr/>
          <p:nvPr/>
        </p:nvSpPr>
        <p:spPr>
          <a:xfrm>
            <a:off x="8215251" y="2285999"/>
            <a:ext cx="3148075" cy="4048126"/>
          </a:xfrm>
          <a:prstGeom prst="roundRect">
            <a:avLst>
              <a:gd name="adj" fmla="val 979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1DD2678-A43C-48F8-831B-C866536E6698}"/>
              </a:ext>
            </a:extLst>
          </p:cNvPr>
          <p:cNvSpPr/>
          <p:nvPr/>
        </p:nvSpPr>
        <p:spPr>
          <a:xfrm>
            <a:off x="4495801" y="5657850"/>
            <a:ext cx="3148075" cy="685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28F591A-55AD-45B1-8CCC-BAE608292DD5}"/>
              </a:ext>
            </a:extLst>
          </p:cNvPr>
          <p:cNvSpPr/>
          <p:nvPr/>
        </p:nvSpPr>
        <p:spPr>
          <a:xfrm>
            <a:off x="8191501" y="5657850"/>
            <a:ext cx="3148075" cy="685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83A689-A651-491F-A044-9AE2BF772D7D}"/>
              </a:ext>
            </a:extLst>
          </p:cNvPr>
          <p:cNvSpPr/>
          <p:nvPr/>
        </p:nvSpPr>
        <p:spPr>
          <a:xfrm>
            <a:off x="771526" y="2295524"/>
            <a:ext cx="3148075" cy="4048126"/>
          </a:xfrm>
          <a:prstGeom prst="roundRect">
            <a:avLst>
              <a:gd name="adj" fmla="val 979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A95974A-6260-42F7-9DA5-E2DD187B9421}"/>
              </a:ext>
            </a:extLst>
          </p:cNvPr>
          <p:cNvSpPr/>
          <p:nvPr/>
        </p:nvSpPr>
        <p:spPr>
          <a:xfrm>
            <a:off x="771526" y="5657850"/>
            <a:ext cx="3148075" cy="685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3C672D-8756-4CB8-8C58-8714BCF74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/>
                </a:solidFill>
              </a:rPr>
              <a:t>PoC </a:t>
            </a:r>
            <a:r>
              <a:rPr lang="ko-KR" altLang="en-US">
                <a:solidFill>
                  <a:schemeClr val="tx1"/>
                </a:solidFill>
              </a:rPr>
              <a:t>이후 로드맵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D2790-7D9C-4994-B982-269BFC230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982" y="514777"/>
            <a:ext cx="693943" cy="351679"/>
          </a:xfrm>
        </p:spPr>
        <p:txBody>
          <a:bodyPr/>
          <a:lstStyle/>
          <a:p>
            <a:r>
              <a:rPr lang="en-US" altLang="ko-KR">
                <a:solidFill>
                  <a:srgbClr val="002060"/>
                </a:solidFill>
              </a:rPr>
              <a:t>05</a:t>
            </a:r>
            <a:endParaRPr lang="ko-KR" altLang="en-US">
              <a:solidFill>
                <a:srgbClr val="00206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3DC8B-5A65-4AEB-9B64-056E29A5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400" b="1" spc="-70"/>
              <a:t>PoC </a:t>
            </a:r>
            <a:r>
              <a:rPr lang="ko-KR" altLang="en-US" sz="1400" b="1" spc="-70"/>
              <a:t>성공 기술을 핵심 자산으로 삼아</a:t>
            </a:r>
            <a:r>
              <a:rPr lang="en-US" altLang="ko-KR" sz="1400" b="1" spc="-70"/>
              <a:t>, </a:t>
            </a:r>
            <a:r>
              <a:rPr lang="ko-KR" altLang="en-US" sz="1400" b="1" spc="-70"/>
              <a:t>내부 생산성 향상을 넘어 신규 수익 창출까지 연결하는 것을 목표로 함</a:t>
            </a:r>
          </a:p>
          <a:p>
            <a:r>
              <a:rPr lang="ko-KR" altLang="en-US" sz="1400" b="1" spc="-70"/>
              <a:t>이를 위해 내부 효율화</a:t>
            </a:r>
            <a:r>
              <a:rPr lang="en-US" altLang="ko-KR" sz="1400" b="1" spc="-70"/>
              <a:t>(1</a:t>
            </a:r>
            <a:r>
              <a:rPr lang="ko-KR" altLang="en-US" sz="1400" b="1" spc="-70"/>
              <a:t>단계</a:t>
            </a:r>
            <a:r>
              <a:rPr lang="en-US" altLang="ko-KR" sz="1400" b="1" spc="-70"/>
              <a:t>)</a:t>
            </a:r>
            <a:r>
              <a:rPr lang="ko-KR" altLang="en-US" sz="1400" b="1" spc="-70"/>
              <a:t>를 시작으로 전사 표준화</a:t>
            </a:r>
            <a:r>
              <a:rPr lang="en-US" altLang="ko-KR" sz="1400" b="1" spc="-70"/>
              <a:t>(2</a:t>
            </a:r>
            <a:r>
              <a:rPr lang="ko-KR" altLang="en-US" sz="1400" b="1" spc="-70"/>
              <a:t>단계</a:t>
            </a:r>
            <a:r>
              <a:rPr lang="en-US" altLang="ko-KR" sz="1400" b="1" spc="-70"/>
              <a:t>)</a:t>
            </a:r>
            <a:r>
              <a:rPr lang="ko-KR" altLang="en-US" sz="1400" b="1" spc="-70"/>
              <a:t>를 거쳐</a:t>
            </a:r>
            <a:r>
              <a:rPr lang="en-US" altLang="ko-KR" sz="1400" b="1" spc="-70"/>
              <a:t>, </a:t>
            </a:r>
            <a:r>
              <a:rPr lang="ko-KR" altLang="en-US" sz="1400" b="1" spc="-70"/>
              <a:t>최종적인 서비스 상품화</a:t>
            </a:r>
            <a:r>
              <a:rPr lang="en-US" altLang="ko-KR" sz="1400" b="1" spc="-70"/>
              <a:t>(3</a:t>
            </a:r>
            <a:r>
              <a:rPr lang="ko-KR" altLang="en-US" sz="1400" b="1" spc="-70"/>
              <a:t>단계</a:t>
            </a:r>
            <a:r>
              <a:rPr lang="en-US" altLang="ko-KR" sz="1400" b="1" spc="-70"/>
              <a:t>)</a:t>
            </a:r>
            <a:r>
              <a:rPr lang="ko-KR" altLang="en-US" sz="1400" b="1" spc="-70"/>
              <a:t>까지의 단계별 이행 방안을 제시함</a:t>
            </a:r>
          </a:p>
          <a:p>
            <a:endParaRPr lang="ko-KR" altLang="en-US" sz="1400" b="1" spc="-70" dirty="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A15F468F-894A-43F2-8783-8073D3F85D5D}"/>
              </a:ext>
            </a:extLst>
          </p:cNvPr>
          <p:cNvSpPr/>
          <p:nvPr/>
        </p:nvSpPr>
        <p:spPr>
          <a:xfrm>
            <a:off x="723901" y="1866900"/>
            <a:ext cx="10763249" cy="295275"/>
          </a:xfrm>
          <a:prstGeom prst="round2SameRect">
            <a:avLst/>
          </a:prstGeom>
          <a:gradFill flip="none" rotWithShape="1">
            <a:gsLst>
              <a:gs pos="80000">
                <a:srgbClr val="00B050"/>
              </a:gs>
              <a:gs pos="100000">
                <a:schemeClr val="tx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사업화 로드맵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9E7C87F-E226-4C2F-B0F8-A63E9CB58140}"/>
              </a:ext>
            </a:extLst>
          </p:cNvPr>
          <p:cNvCxnSpPr>
            <a:cxnSpLocks/>
          </p:cNvCxnSpPr>
          <p:nvPr/>
        </p:nvCxnSpPr>
        <p:spPr>
          <a:xfrm>
            <a:off x="4057650" y="4276725"/>
            <a:ext cx="333375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95DADB8-71A1-4DDB-A631-BAA02FFB7E65}"/>
              </a:ext>
            </a:extLst>
          </p:cNvPr>
          <p:cNvCxnSpPr>
            <a:cxnSpLocks/>
          </p:cNvCxnSpPr>
          <p:nvPr/>
        </p:nvCxnSpPr>
        <p:spPr>
          <a:xfrm>
            <a:off x="7781925" y="4276725"/>
            <a:ext cx="333375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407D48-8FF3-47E1-AE7D-74855DE6D5F7}"/>
              </a:ext>
            </a:extLst>
          </p:cNvPr>
          <p:cNvSpPr/>
          <p:nvPr/>
        </p:nvSpPr>
        <p:spPr>
          <a:xfrm>
            <a:off x="1388375" y="2514600"/>
            <a:ext cx="1964425" cy="2762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Phase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①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 (~3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개월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987E9F9-A613-46B2-A927-61FF8D8852F5}"/>
              </a:ext>
            </a:extLst>
          </p:cNvPr>
          <p:cNvSpPr/>
          <p:nvPr/>
        </p:nvSpPr>
        <p:spPr>
          <a:xfrm>
            <a:off x="5112650" y="2514600"/>
            <a:ext cx="1964425" cy="2762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Phase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②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 (~6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개월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)</a:t>
            </a:r>
            <a:endParaRPr lang="ko-KR" altLang="en-US" sz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D285D9A-B60D-45B3-980E-18B1889AA7D1}"/>
              </a:ext>
            </a:extLst>
          </p:cNvPr>
          <p:cNvSpPr/>
          <p:nvPr/>
        </p:nvSpPr>
        <p:spPr>
          <a:xfrm>
            <a:off x="8855975" y="2514600"/>
            <a:ext cx="1964425" cy="276225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Phase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③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 (~1</a:t>
            </a:r>
            <a:r>
              <a:rPr lang="ko-KR" altLang="en-US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년</a:t>
            </a:r>
            <a:r>
              <a:rPr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DB고딕 B" panose="02020503020101020101" pitchFamily="18" charset="-127"/>
                <a:ea typeface="DB고딕 B" panose="02020503020101020101" pitchFamily="18" charset="-127"/>
              </a:rPr>
              <a:t>)</a:t>
            </a:r>
            <a:endParaRPr lang="ko-KR" altLang="en-US" sz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EBB7C2-78F7-4D65-9C93-D1C85DB2FCC7}"/>
              </a:ext>
            </a:extLst>
          </p:cNvPr>
          <p:cNvSpPr txBox="1"/>
          <p:nvPr/>
        </p:nvSpPr>
        <p:spPr>
          <a:xfrm>
            <a:off x="1374127" y="2874216"/>
            <a:ext cx="19215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u="none" strike="noStrike" cap="none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B" panose="02020503020101020101" pitchFamily="18" charset="-127"/>
                <a:ea typeface="DB고딕 B" panose="02020503020101020101" pitchFamily="18" charset="-127"/>
              </a:rPr>
              <a:t>내부</a:t>
            </a:r>
            <a:r>
              <a:rPr lang="en-US" altLang="ko-KR" sz="16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B" panose="02020503020101020101" pitchFamily="18" charset="-127"/>
                <a:ea typeface="DB고딕 B" panose="02020503020101020101" pitchFamily="18" charset="-127"/>
              </a:rPr>
              <a:t>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B" panose="02020503020101020101" pitchFamily="18" charset="-127"/>
                <a:ea typeface="DB고딕 B" panose="02020503020101020101" pitchFamily="18" charset="-127"/>
              </a:rPr>
              <a:t>효율화</a:t>
            </a:r>
            <a:endParaRPr lang="en-US" altLang="ko-KR" sz="1600">
              <a:ln>
                <a:solidFill>
                  <a:schemeClr val="accent1">
                    <a:alpha val="0"/>
                  </a:schemeClr>
                </a:solidFill>
              </a:ln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E59614-3C97-4A37-9A34-611D9F3FCDC2}"/>
              </a:ext>
            </a:extLst>
          </p:cNvPr>
          <p:cNvSpPr txBox="1"/>
          <p:nvPr/>
        </p:nvSpPr>
        <p:spPr>
          <a:xfrm>
            <a:off x="5155552" y="2874216"/>
            <a:ext cx="19215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u="none" strike="noStrike" cap="none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B" panose="02020503020101020101" pitchFamily="18" charset="-127"/>
                <a:ea typeface="DB고딕 B" panose="02020503020101020101" pitchFamily="18" charset="-127"/>
              </a:rPr>
              <a:t>표준화 및 확산</a:t>
            </a:r>
            <a:endParaRPr lang="en-US" altLang="ko-KR" sz="1600">
              <a:ln>
                <a:solidFill>
                  <a:schemeClr val="accent1">
                    <a:alpha val="0"/>
                  </a:schemeClr>
                </a:solidFill>
              </a:ln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18F7F-32F6-4F98-91FC-387BE3781B42}"/>
              </a:ext>
            </a:extLst>
          </p:cNvPr>
          <p:cNvSpPr txBox="1"/>
          <p:nvPr/>
        </p:nvSpPr>
        <p:spPr>
          <a:xfrm>
            <a:off x="8908402" y="2874216"/>
            <a:ext cx="19215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u="none" strike="noStrike" cap="none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B" panose="02020503020101020101" pitchFamily="18" charset="-127"/>
                <a:ea typeface="DB고딕 B" panose="02020503020101020101" pitchFamily="18" charset="-127"/>
              </a:rPr>
              <a:t>신규 사업화</a:t>
            </a:r>
            <a:endParaRPr lang="en-US" altLang="ko-KR" sz="1600">
              <a:ln>
                <a:solidFill>
                  <a:schemeClr val="accent1">
                    <a:alpha val="0"/>
                  </a:schemeClr>
                </a:solidFill>
              </a:ln>
              <a:latin typeface="DB고딕 B" panose="02020503020101020101" pitchFamily="18" charset="-127"/>
              <a:ea typeface="DB고딕 B" panose="02020503020101020101" pitchFamily="18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338B73C-9F4B-442B-993D-EFD47C5C2DB6}"/>
              </a:ext>
            </a:extLst>
          </p:cNvPr>
          <p:cNvCxnSpPr>
            <a:cxnSpLocks/>
          </p:cNvCxnSpPr>
          <p:nvPr/>
        </p:nvCxnSpPr>
        <p:spPr>
          <a:xfrm>
            <a:off x="1085850" y="3200400"/>
            <a:ext cx="2514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422B44E-5631-439C-A076-07680E3AD988}"/>
              </a:ext>
            </a:extLst>
          </p:cNvPr>
          <p:cNvCxnSpPr>
            <a:cxnSpLocks/>
          </p:cNvCxnSpPr>
          <p:nvPr/>
        </p:nvCxnSpPr>
        <p:spPr>
          <a:xfrm>
            <a:off x="4867275" y="3200400"/>
            <a:ext cx="2514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62B9E2-9AD4-4CD1-B8EB-AA4057B0F999}"/>
              </a:ext>
            </a:extLst>
          </p:cNvPr>
          <p:cNvCxnSpPr>
            <a:cxnSpLocks/>
          </p:cNvCxnSpPr>
          <p:nvPr/>
        </p:nvCxnSpPr>
        <p:spPr>
          <a:xfrm>
            <a:off x="8572500" y="3200400"/>
            <a:ext cx="2514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6FA694D-4EDA-4CDE-AD8E-47C4653B05CC}"/>
              </a:ext>
            </a:extLst>
          </p:cNvPr>
          <p:cNvSpPr txBox="1"/>
          <p:nvPr/>
        </p:nvSpPr>
        <p:spPr>
          <a:xfrm>
            <a:off x="745477" y="3245691"/>
            <a:ext cx="3216923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3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B고딕 M" panose="02020503020101020101" pitchFamily="18" charset="-127"/>
                <a:ea typeface="DB고딕 M" panose="02020503020101020101" pitchFamily="18" charset="-127"/>
              </a:rPr>
              <a:t>기술 안정성 검증 및 내부 레퍼런스 확보</a:t>
            </a:r>
            <a:endParaRPr lang="en-US" altLang="ko-KR" sz="13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DB고딕 M" panose="02020503020101020101" pitchFamily="18" charset="-127"/>
              <a:ea typeface="DB고딕 M" panose="020205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BAB530-5C3C-445C-A8B9-FCA5084C72C7}"/>
              </a:ext>
            </a:extLst>
          </p:cNvPr>
          <p:cNvSpPr txBox="1"/>
          <p:nvPr/>
        </p:nvSpPr>
        <p:spPr>
          <a:xfrm>
            <a:off x="4488802" y="3245691"/>
            <a:ext cx="3216923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3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전사적 개발 생산성 향상 및 기술 자산화</a:t>
            </a:r>
            <a:endParaRPr lang="en-US" altLang="ko-KR" sz="13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DB고딕 M" panose="02020503020101020101" pitchFamily="18" charset="-127"/>
              <a:ea typeface="DB고딕 M" panose="020205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046C73-01EF-4691-88AE-8AD2A272B324}"/>
              </a:ext>
            </a:extLst>
          </p:cNvPr>
          <p:cNvSpPr txBox="1"/>
          <p:nvPr/>
        </p:nvSpPr>
        <p:spPr>
          <a:xfrm>
            <a:off x="8222602" y="3245691"/>
            <a:ext cx="3216923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300" u="none" strike="noStrike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B고딕 M" panose="02020503020101020101" pitchFamily="18" charset="-127"/>
                <a:ea typeface="DB고딕 M" panose="02020503020101020101" pitchFamily="18" charset="-127"/>
              </a:rPr>
              <a:t>기술 자산 기반의 신규 수익 모델 창출</a:t>
            </a:r>
            <a:endParaRPr lang="en-US" altLang="ko-KR" sz="13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DB고딕 M" panose="02020503020101020101" pitchFamily="18" charset="-127"/>
              <a:ea typeface="DB고딕 M" panose="02020503020101020101" pitchFamily="18" charset="-127"/>
            </a:endParaRPr>
          </a:p>
        </p:txBody>
      </p:sp>
      <p:graphicFrame>
        <p:nvGraphicFramePr>
          <p:cNvPr id="29" name="표 29">
            <a:extLst>
              <a:ext uri="{FF2B5EF4-FFF2-40B4-BE49-F238E27FC236}">
                <a16:creationId xmlns:a16="http://schemas.microsoft.com/office/drawing/2014/main" id="{8C61D477-7559-4803-9EF8-DA55F1FBE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21213"/>
              </p:ext>
            </p:extLst>
          </p:nvPr>
        </p:nvGraphicFramePr>
        <p:xfrm>
          <a:off x="965200" y="3615266"/>
          <a:ext cx="2768600" cy="177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305908384"/>
                    </a:ext>
                  </a:extLst>
                </a:gridCol>
              </a:tblGrid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대상 프로젝트 선정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84767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신규 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ITO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프로젝트 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1~2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개 시범 적용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44048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전담 </a:t>
                      </a:r>
                      <a:r>
                        <a:rPr kumimoji="0" lang="en-US" altLang="ko-KR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TF </a:t>
                      </a:r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212306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실행 조직 운영 및 프로세스 정립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02585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데이터 수집 </a:t>
                      </a:r>
                      <a:r>
                        <a:rPr kumimoji="0" lang="en-US" altLang="ko-KR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/ </a:t>
                      </a:r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분석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927630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코드 정확도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성공률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공수 절감 효과 데이터화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66567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62B6809-B830-4739-A5ED-3BA599D1C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51947"/>
              </p:ext>
            </p:extLst>
          </p:nvPr>
        </p:nvGraphicFramePr>
        <p:xfrm>
          <a:off x="4727575" y="3615266"/>
          <a:ext cx="2768600" cy="177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305908384"/>
                    </a:ext>
                  </a:extLst>
                </a:gridCol>
              </a:tblGrid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표준 툴킷 개발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84767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웹 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UI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기반 생성기 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시나리오 템플릿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리포팅 대시보드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44048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기술 문서화 및 교육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212306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사용자 매뉴얼 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Best Practice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가이드 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02585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거버넌스 수립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927630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버전 관리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품질 모니터링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업데이트 정책 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66567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AD5D43B7-0384-46FD-8739-4763B418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659207"/>
              </p:ext>
            </p:extLst>
          </p:nvPr>
        </p:nvGraphicFramePr>
        <p:xfrm>
          <a:off x="8432800" y="3615266"/>
          <a:ext cx="2768600" cy="177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305908384"/>
                    </a:ext>
                  </a:extLst>
                </a:gridCol>
              </a:tblGrid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서비스 상품화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84767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컨설팅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자동화 구축 서비스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플랫폼 등 단계별 상품 구성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44048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마케팅 </a:t>
                      </a:r>
                      <a:r>
                        <a:rPr kumimoji="0" lang="en-US" altLang="ko-KR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/ </a:t>
                      </a:r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영업 전략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212306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기존 고객 대상 파일럿 제안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외부 기술 세미나 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02585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300" b="1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전담 조직 구성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927630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컨설팅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기술지원</a:t>
                      </a:r>
                      <a:r>
                        <a:rPr kumimoji="0" lang="en-US" altLang="ko-KR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u="none" strike="noStrike" kern="1200" cap="none" spc="-100" normalizeH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DB고딕 M" panose="02020503020101020101" pitchFamily="18" charset="-127"/>
                          <a:ea typeface="DB고딕 M" panose="02020503020101020101" pitchFamily="18" charset="-127"/>
                          <a:cs typeface="+mn-cs"/>
                        </a:rPr>
                        <a:t>영업을 포함하는 조직 구성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66567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19BDDAE1-2808-4F05-8410-23240FA3DCC2}"/>
              </a:ext>
            </a:extLst>
          </p:cNvPr>
          <p:cNvSpPr txBox="1"/>
          <p:nvPr/>
        </p:nvSpPr>
        <p:spPr>
          <a:xfrm>
            <a:off x="1066800" y="5787509"/>
            <a:ext cx="2495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u="none" strike="noStrike" kern="1200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rPr>
              <a:t>테스트 코드 작성 공수 </a:t>
            </a:r>
            <a:r>
              <a:rPr kumimoji="0" lang="en-US" altLang="ko-KR" sz="1200" b="1" u="none" strike="noStrike" kern="1200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rPr>
              <a:t>90% </a:t>
            </a:r>
            <a:r>
              <a:rPr kumimoji="0" lang="ko-KR" altLang="en-US" sz="1200" b="1" u="none" strike="noStrike" kern="1200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rPr>
              <a:t>이상 절감 </a:t>
            </a:r>
            <a:endParaRPr kumimoji="0" lang="en-US" altLang="ko-KR" sz="1200" b="1" u="none" strike="noStrike" kern="1200" cap="none" spc="-100" normalizeH="0">
              <a:ln>
                <a:solidFill>
                  <a:schemeClr val="accent1">
                    <a:alpha val="0"/>
                  </a:schemeClr>
                </a:solidFill>
              </a:ln>
              <a:effectLst/>
              <a:latin typeface="DB고딕 M" panose="02020503020101020101" pitchFamily="18" charset="-127"/>
              <a:ea typeface="DB고딕 M" panose="02020503020101020101" pitchFamily="18" charset="-127"/>
              <a:cs typeface="+mn-cs"/>
            </a:endParaRPr>
          </a:p>
          <a:p>
            <a:pPr algn="ctr"/>
            <a:r>
              <a:rPr kumimoji="0" lang="ko-KR" altLang="en-US" sz="1200" b="1" u="none" strike="noStrike" kern="1200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rPr>
              <a:t>및 성공사례 확보</a:t>
            </a:r>
            <a:endParaRPr lang="ko-KR" altLang="en-US" sz="1200" b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6162F7-C34B-45CA-9C4F-04C9258357D1}"/>
              </a:ext>
            </a:extLst>
          </p:cNvPr>
          <p:cNvSpPr txBox="1"/>
          <p:nvPr/>
        </p:nvSpPr>
        <p:spPr>
          <a:xfrm>
            <a:off x="4572000" y="5777984"/>
            <a:ext cx="3076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u="none" strike="noStrike" kern="1200" cap="none" spc="-100" normalizeH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DB고딕 M" panose="02020503020101020101" pitchFamily="18" charset="-127"/>
                <a:ea typeface="DB고딕 M" panose="02020503020101020101" pitchFamily="18" charset="-127"/>
                <a:cs typeface="+mn-cs"/>
              </a:rPr>
              <a:t>전체 프로젝트 테스트 자동화율 </a:t>
            </a:r>
            <a:r>
              <a:rPr lang="en-US" altLang="ko-KR" sz="1200" b="1" spc="-1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M" panose="02020503020101020101" pitchFamily="18" charset="-127"/>
                <a:ea typeface="DB고딕 M" panose="02020503020101020101" pitchFamily="18" charset="-127"/>
              </a:rPr>
              <a:t>50% </a:t>
            </a:r>
            <a:r>
              <a:rPr lang="ko-KR" altLang="en-US" sz="1200" b="1" spc="-1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M" panose="02020503020101020101" pitchFamily="18" charset="-127"/>
                <a:ea typeface="DB고딕 M" panose="02020503020101020101" pitchFamily="18" charset="-127"/>
              </a:rPr>
              <a:t>달성 </a:t>
            </a:r>
            <a:endParaRPr lang="en-US" altLang="ko-KR" sz="1200" b="1" spc="-100">
              <a:ln>
                <a:solidFill>
                  <a:schemeClr val="accent1">
                    <a:alpha val="0"/>
                  </a:schemeClr>
                </a:solidFill>
              </a:ln>
              <a:latin typeface="DB고딕 M" panose="02020503020101020101" pitchFamily="18" charset="-127"/>
              <a:ea typeface="DB고딕 M" panose="02020503020101020101" pitchFamily="18" charset="-127"/>
            </a:endParaRPr>
          </a:p>
          <a:p>
            <a:pPr algn="ctr"/>
            <a:r>
              <a:rPr lang="ko-KR" altLang="en-US" sz="1200" b="1" spc="-1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M" panose="02020503020101020101" pitchFamily="18" charset="-127"/>
                <a:ea typeface="DB고딕 M" panose="02020503020101020101" pitchFamily="18" charset="-127"/>
              </a:rPr>
              <a:t>및 품질기준 확립</a:t>
            </a:r>
            <a:endParaRPr lang="ko-KR" altLang="en-US" sz="12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6080C6-75B7-4622-B4A1-060D4C502A5C}"/>
              </a:ext>
            </a:extLst>
          </p:cNvPr>
          <p:cNvSpPr txBox="1"/>
          <p:nvPr/>
        </p:nvSpPr>
        <p:spPr>
          <a:xfrm>
            <a:off x="8296275" y="5777984"/>
            <a:ext cx="3076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spc="-1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M" panose="02020503020101020101" pitchFamily="18" charset="-127"/>
                <a:ea typeface="DB고딕 M" panose="02020503020101020101" pitchFamily="18" charset="-127"/>
              </a:rPr>
              <a:t>신규 수익원 확보 및 </a:t>
            </a:r>
            <a:endParaRPr lang="en-US" altLang="ko-KR" sz="1200" b="1" spc="-100">
              <a:ln>
                <a:solidFill>
                  <a:schemeClr val="accent1">
                    <a:alpha val="0"/>
                  </a:schemeClr>
                </a:solidFill>
              </a:ln>
              <a:latin typeface="DB고딕 M" panose="02020503020101020101" pitchFamily="18" charset="-127"/>
              <a:ea typeface="DB고딕 M" panose="02020503020101020101" pitchFamily="18" charset="-127"/>
            </a:endParaRPr>
          </a:p>
          <a:p>
            <a:pPr algn="ctr"/>
            <a:r>
              <a:rPr lang="ko-KR" altLang="en-US" sz="1200" b="1" spc="-100">
                <a:ln>
                  <a:solidFill>
                    <a:schemeClr val="accent1">
                      <a:alpha val="0"/>
                    </a:schemeClr>
                  </a:solidFill>
                </a:ln>
                <a:latin typeface="DB고딕 M" panose="02020503020101020101" pitchFamily="18" charset="-127"/>
                <a:ea typeface="DB고딕 M" panose="02020503020101020101" pitchFamily="18" charset="-127"/>
              </a:rPr>
              <a:t>기존 사업영역과의 시너지 창출</a:t>
            </a:r>
            <a:endParaRPr lang="ko-KR" altLang="en-US" sz="1200" b="1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979E3B8-CC28-43C2-9806-B4D6DF6C0E5A}"/>
              </a:ext>
            </a:extLst>
          </p:cNvPr>
          <p:cNvSpPr/>
          <p:nvPr/>
        </p:nvSpPr>
        <p:spPr>
          <a:xfrm>
            <a:off x="1800225" y="5553075"/>
            <a:ext cx="1076325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ko-KR" altLang="en-US" sz="105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기대효과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213D960-25A9-4C8A-8A44-3C1EF54B1EB5}"/>
              </a:ext>
            </a:extLst>
          </p:cNvPr>
          <p:cNvSpPr/>
          <p:nvPr/>
        </p:nvSpPr>
        <p:spPr>
          <a:xfrm>
            <a:off x="5553075" y="5562600"/>
            <a:ext cx="1076325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ko-KR" altLang="en-US" sz="105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기대효과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4CCD1E3-FC33-4277-B2E6-14C81142D059}"/>
              </a:ext>
            </a:extLst>
          </p:cNvPr>
          <p:cNvSpPr/>
          <p:nvPr/>
        </p:nvSpPr>
        <p:spPr>
          <a:xfrm>
            <a:off x="9305925" y="5562600"/>
            <a:ext cx="1076325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ko-KR" altLang="en-US" sz="105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DB고딕 M" panose="02020503020101020101" pitchFamily="18" charset="-127"/>
                <a:ea typeface="DB고딕 M" panose="02020503020101020101" pitchFamily="18" charset="-127"/>
              </a:rPr>
              <a:t>기대효과</a:t>
            </a:r>
          </a:p>
        </p:txBody>
      </p:sp>
    </p:spTree>
    <p:extLst>
      <p:ext uri="{BB962C8B-B14F-4D97-AF65-F5344CB8AC3E}">
        <p14:creationId xmlns:p14="http://schemas.microsoft.com/office/powerpoint/2010/main" val="301743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6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1200">
            <a:ln>
              <a:solidFill>
                <a:schemeClr val="accent1">
                  <a:alpha val="0"/>
                </a:schemeClr>
              </a:solidFill>
            </a:ln>
            <a:solidFill>
              <a:schemeClr val="tx1">
                <a:lumMod val="95000"/>
                <a:lumOff val="5000"/>
              </a:schemeClr>
            </a:solidFill>
            <a:latin typeface="DB고딕 L" panose="02020503020101020101" pitchFamily="18" charset="-127"/>
            <a:ea typeface="DB고딕 L" panose="0202050302010102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1236</Words>
  <Application>Microsoft Office PowerPoint</Application>
  <PresentationFormat>와이드스크린</PresentationFormat>
  <Paragraphs>221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DB고딕 B</vt:lpstr>
      <vt:lpstr>DB고딕 L</vt:lpstr>
      <vt:lpstr>DB고딕 M</vt:lpstr>
      <vt:lpstr>DB드림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신사업아이디어공모전 운영안</dc:title>
  <dc:creator>문소리</dc:creator>
  <cp:lastModifiedBy>문소리</cp:lastModifiedBy>
  <cp:revision>100</cp:revision>
  <dcterms:created xsi:type="dcterms:W3CDTF">2025-02-24T23:52:15Z</dcterms:created>
  <dcterms:modified xsi:type="dcterms:W3CDTF">2025-09-01T03:49:46Z</dcterms:modified>
</cp:coreProperties>
</file>